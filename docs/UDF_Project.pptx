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libri (MS) Bold" panose="020B0604020202020204" charset="0"/>
      <p:regular r:id="rId13"/>
    </p:embeddedFont>
    <p:embeddedFont>
      <p:font typeface="Segoe UI" panose="020B0502040204020203" pitchFamily="34" charset="0"/>
      <p:regular r:id="rId14"/>
      <p:bold r:id="rId15"/>
      <p:italic r:id="rId16"/>
      <p:boldItalic r:id="rId17"/>
    </p:embeddedFont>
    <p:embeddedFont>
      <p:font typeface="Segoe UI Bold" panose="020B0802040204020203" pitchFamily="34" charset="0"/>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5726" autoAdjust="0"/>
  </p:normalViewPr>
  <p:slideViewPr>
    <p:cSldViewPr>
      <p:cViewPr varScale="1">
        <p:scale>
          <a:sx n="64" d="100"/>
          <a:sy n="64" d="100"/>
        </p:scale>
        <p:origin x="178"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05.10.2026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2</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grpSp>
        <p:nvGrpSpPr>
          <p:cNvPr id="2" name="Group 2"/>
          <p:cNvGrpSpPr/>
          <p:nvPr/>
        </p:nvGrpSpPr>
        <p:grpSpPr>
          <a:xfrm>
            <a:off x="-17859" y="-17859"/>
            <a:ext cx="18323195" cy="145494"/>
            <a:chOff x="0" y="0"/>
            <a:chExt cx="24430926" cy="193992"/>
          </a:xfrm>
        </p:grpSpPr>
        <p:sp>
          <p:nvSpPr>
            <p:cNvPr id="3" name="Freeform 3"/>
            <p:cNvSpPr/>
            <p:nvPr/>
          </p:nvSpPr>
          <p:spPr>
            <a:xfrm>
              <a:off x="0" y="0"/>
              <a:ext cx="24430989" cy="193929"/>
            </a:xfrm>
            <a:custGeom>
              <a:avLst/>
              <a:gdLst/>
              <a:ahLst/>
              <a:cxnLst/>
              <a:rect l="l" t="t" r="r" b="b"/>
              <a:pathLst>
                <a:path w="24430989" h="193929">
                  <a:moveTo>
                    <a:pt x="0" y="0"/>
                  </a:moveTo>
                  <a:lnTo>
                    <a:pt x="24430989" y="0"/>
                  </a:lnTo>
                  <a:lnTo>
                    <a:pt x="24430989" y="193929"/>
                  </a:lnTo>
                  <a:lnTo>
                    <a:pt x="0" y="193929"/>
                  </a:lnTo>
                  <a:close/>
                </a:path>
              </a:pathLst>
            </a:custGeom>
            <a:solidFill>
              <a:srgbClr val="5E7CE2"/>
            </a:solidFill>
            <a:ln w="14288" cap="sq">
              <a:solidFill>
                <a:srgbClr val="5E7CE2"/>
              </a:solidFill>
              <a:prstDash val="solid"/>
              <a:miter/>
            </a:ln>
          </p:spPr>
        </p:sp>
      </p:grpSp>
      <p:sp>
        <p:nvSpPr>
          <p:cNvPr id="4" name="TextBox 4"/>
          <p:cNvSpPr txBox="1"/>
          <p:nvPr/>
        </p:nvSpPr>
        <p:spPr>
          <a:xfrm>
            <a:off x="1188949" y="3749040"/>
            <a:ext cx="15910103" cy="1554480"/>
          </a:xfrm>
          <a:prstGeom prst="rect">
            <a:avLst/>
          </a:prstGeom>
        </p:spPr>
        <p:txBody>
          <a:bodyPr lIns="0" tIns="0" rIns="0" bIns="0" rtlCol="0" anchor="t">
            <a:spAutoFit/>
          </a:bodyPr>
          <a:lstStyle/>
          <a:p>
            <a:pPr algn="ctr">
              <a:lnSpc>
                <a:spcPts val="11519"/>
              </a:lnSpc>
            </a:pPr>
            <a:r>
              <a:rPr lang="en-US" sz="9600" b="1">
                <a:solidFill>
                  <a:srgbClr val="19202C"/>
                </a:solidFill>
                <a:latin typeface="Segoe UI Bold"/>
                <a:ea typeface="Segoe UI Bold"/>
                <a:cs typeface="Segoe UI Bold"/>
                <a:sym typeface="Segoe UI Bold"/>
              </a:rPr>
              <a:t>UDF Project</a:t>
            </a:r>
          </a:p>
        </p:txBody>
      </p:sp>
      <p:sp>
        <p:nvSpPr>
          <p:cNvPr id="5" name="TextBox 5"/>
          <p:cNvSpPr txBox="1"/>
          <p:nvPr/>
        </p:nvSpPr>
        <p:spPr>
          <a:xfrm>
            <a:off x="1188949" y="5532120"/>
            <a:ext cx="15910103" cy="785727"/>
          </a:xfrm>
          <a:prstGeom prst="rect">
            <a:avLst/>
          </a:prstGeom>
        </p:spPr>
        <p:txBody>
          <a:bodyPr lIns="0" tIns="0" rIns="0" bIns="0" rtlCol="0" anchor="t">
            <a:spAutoFit/>
          </a:bodyPr>
          <a:lstStyle/>
          <a:p>
            <a:pPr algn="ctr">
              <a:lnSpc>
                <a:spcPts val="5757"/>
              </a:lnSpc>
            </a:pPr>
            <a:r>
              <a:rPr lang="en-US" sz="4800" b="1">
                <a:solidFill>
                  <a:srgbClr val="5E7CE2"/>
                </a:solidFill>
                <a:latin typeface="Segoe UI Bold"/>
                <a:ea typeface="Segoe UI Bold"/>
                <a:cs typeface="Segoe UI Bold"/>
                <a:sym typeface="Segoe UI Bold"/>
              </a:rPr>
              <a:t>Simple Calculator App</a:t>
            </a:r>
          </a:p>
        </p:txBody>
      </p:sp>
      <p:grpSp>
        <p:nvGrpSpPr>
          <p:cNvPr id="6" name="Group 6"/>
          <p:cNvGrpSpPr/>
          <p:nvPr/>
        </p:nvGrpSpPr>
        <p:grpSpPr>
          <a:xfrm>
            <a:off x="13742518" y="7654633"/>
            <a:ext cx="3847814" cy="1967865"/>
            <a:chOff x="0" y="0"/>
            <a:chExt cx="5130419" cy="2623820"/>
          </a:xfrm>
        </p:grpSpPr>
        <p:sp>
          <p:nvSpPr>
            <p:cNvPr id="7" name="Freeform 7"/>
            <p:cNvSpPr/>
            <p:nvPr/>
          </p:nvSpPr>
          <p:spPr>
            <a:xfrm>
              <a:off x="0" y="0"/>
              <a:ext cx="5130419" cy="2623820"/>
            </a:xfrm>
            <a:custGeom>
              <a:avLst/>
              <a:gdLst/>
              <a:ahLst/>
              <a:cxnLst/>
              <a:rect l="l" t="t" r="r" b="b"/>
              <a:pathLst>
                <a:path w="5130419" h="2623820">
                  <a:moveTo>
                    <a:pt x="0" y="0"/>
                  </a:moveTo>
                  <a:lnTo>
                    <a:pt x="5130419" y="0"/>
                  </a:lnTo>
                  <a:lnTo>
                    <a:pt x="5130419" y="2623820"/>
                  </a:lnTo>
                  <a:lnTo>
                    <a:pt x="0" y="2623820"/>
                  </a:lnTo>
                  <a:close/>
                </a:path>
              </a:pathLst>
            </a:custGeom>
            <a:solidFill>
              <a:srgbClr val="FFFFFF"/>
            </a:solidFill>
            <a:ln w="19050" cap="sq">
              <a:solidFill>
                <a:srgbClr val="E2E8F0"/>
              </a:solidFill>
              <a:prstDash val="solid"/>
              <a:miter/>
            </a:ln>
          </p:spPr>
        </p:sp>
      </p:grpSp>
      <p:sp>
        <p:nvSpPr>
          <p:cNvPr id="8" name="TextBox 8"/>
          <p:cNvSpPr txBox="1"/>
          <p:nvPr/>
        </p:nvSpPr>
        <p:spPr>
          <a:xfrm>
            <a:off x="13857770" y="8107204"/>
            <a:ext cx="3617328" cy="1062723"/>
          </a:xfrm>
          <a:prstGeom prst="rect">
            <a:avLst/>
          </a:prstGeom>
        </p:spPr>
        <p:txBody>
          <a:bodyPr lIns="0" tIns="0" rIns="0" bIns="0" rtlCol="0" anchor="t">
            <a:spAutoFit/>
          </a:bodyPr>
          <a:lstStyle/>
          <a:p>
            <a:pPr algn="ctr">
              <a:lnSpc>
                <a:spcPts val="1980"/>
              </a:lnSpc>
            </a:pPr>
            <a:r>
              <a:rPr lang="en-US" sz="1650" b="1">
                <a:solidFill>
                  <a:srgbClr val="19202C"/>
                </a:solidFill>
                <a:latin typeface="Segoe UI Bold"/>
                <a:ea typeface="Segoe UI Bold"/>
                <a:cs typeface="Segoe UI Bold"/>
                <a:sym typeface="Segoe UI Bold"/>
              </a:rPr>
              <a:t>C. Rohan – 247R1A6616</a:t>
            </a:r>
          </a:p>
          <a:p>
            <a:pPr algn="ctr">
              <a:lnSpc>
                <a:spcPts val="1980"/>
              </a:lnSpc>
            </a:pPr>
            <a:r>
              <a:rPr lang="en-US" sz="1650" b="1">
                <a:solidFill>
                  <a:srgbClr val="19202C"/>
                </a:solidFill>
                <a:latin typeface="Segoe UI Bold"/>
                <a:ea typeface="Segoe UI Bold"/>
                <a:cs typeface="Segoe UI Bold"/>
                <a:sym typeface="Segoe UI Bold"/>
              </a:rPr>
              <a:t>G. Tanishq – 247R1A6623</a:t>
            </a:r>
          </a:p>
          <a:p>
            <a:pPr algn="ctr">
              <a:lnSpc>
                <a:spcPts val="1980"/>
              </a:lnSpc>
            </a:pPr>
            <a:r>
              <a:rPr lang="en-US" sz="1650" b="1">
                <a:solidFill>
                  <a:srgbClr val="19202C"/>
                </a:solidFill>
                <a:latin typeface="Segoe UI Bold"/>
                <a:ea typeface="Segoe UI Bold"/>
                <a:cs typeface="Segoe UI Bold"/>
                <a:sym typeface="Segoe UI Bold"/>
              </a:rPr>
              <a:t>GVSS Jaswanth – 247R1A6624</a:t>
            </a:r>
          </a:p>
          <a:p>
            <a:pPr algn="ctr">
              <a:lnSpc>
                <a:spcPts val="1980"/>
              </a:lnSpc>
            </a:pPr>
            <a:r>
              <a:rPr lang="en-US" sz="1650" b="1">
                <a:solidFill>
                  <a:srgbClr val="19202C"/>
                </a:solidFill>
                <a:latin typeface="Segoe UI Bold"/>
                <a:ea typeface="Segoe UI Bold"/>
                <a:cs typeface="Segoe UI Bold"/>
                <a:sym typeface="Segoe UI Bold"/>
              </a:rPr>
              <a:t>Shaik Junaid Kareem -247R1A6658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2"/>
          <p:cNvSpPr txBox="1"/>
          <p:nvPr/>
        </p:nvSpPr>
        <p:spPr>
          <a:xfrm>
            <a:off x="1188720" y="594360"/>
            <a:ext cx="15910103" cy="731520"/>
          </a:xfrm>
          <a:prstGeom prst="rect">
            <a:avLst/>
          </a:prstGeom>
        </p:spPr>
        <p:txBody>
          <a:bodyPr lIns="0" tIns="0" rIns="0" bIns="0" rtlCol="0" anchor="t">
            <a:spAutoFit/>
          </a:bodyPr>
          <a:lstStyle/>
          <a:p>
            <a:pPr algn="l">
              <a:lnSpc>
                <a:spcPts val="7920"/>
              </a:lnSpc>
            </a:pPr>
            <a:r>
              <a:rPr lang="en-US" sz="6600" b="1">
                <a:solidFill>
                  <a:srgbClr val="19202C"/>
                </a:solidFill>
                <a:latin typeface="Segoe UI Bold"/>
                <a:ea typeface="Segoe UI Bold"/>
                <a:cs typeface="Segoe UI Bold"/>
                <a:sym typeface="Segoe UI Bold"/>
              </a:rPr>
              <a:t>Project Overview</a:t>
            </a:r>
          </a:p>
        </p:txBody>
      </p:sp>
      <p:grpSp>
        <p:nvGrpSpPr>
          <p:cNvPr id="3" name="Group 3"/>
          <p:cNvGrpSpPr/>
          <p:nvPr/>
        </p:nvGrpSpPr>
        <p:grpSpPr>
          <a:xfrm>
            <a:off x="1079421" y="1490901"/>
            <a:ext cx="2778966" cy="90630"/>
            <a:chOff x="0" y="0"/>
            <a:chExt cx="3705288" cy="120840"/>
          </a:xfrm>
        </p:grpSpPr>
        <p:sp>
          <p:nvSpPr>
            <p:cNvPr id="4" name="Freeform 4"/>
            <p:cNvSpPr/>
            <p:nvPr/>
          </p:nvSpPr>
          <p:spPr>
            <a:xfrm>
              <a:off x="0" y="0"/>
              <a:ext cx="3705225" cy="120777"/>
            </a:xfrm>
            <a:custGeom>
              <a:avLst/>
              <a:gdLst/>
              <a:ahLst/>
              <a:cxnLst/>
              <a:rect l="l" t="t" r="r" b="b"/>
              <a:pathLst>
                <a:path w="3705225" h="120777">
                  <a:moveTo>
                    <a:pt x="0" y="0"/>
                  </a:moveTo>
                  <a:lnTo>
                    <a:pt x="3705225" y="0"/>
                  </a:lnTo>
                  <a:lnTo>
                    <a:pt x="3705225" y="120777"/>
                  </a:lnTo>
                  <a:lnTo>
                    <a:pt x="0" y="120777"/>
                  </a:lnTo>
                  <a:close/>
                </a:path>
              </a:pathLst>
            </a:custGeom>
            <a:solidFill>
              <a:srgbClr val="5E7CE2"/>
            </a:solidFill>
            <a:ln w="14288" cap="sq">
              <a:solidFill>
                <a:srgbClr val="5E7CE2"/>
              </a:solidFill>
              <a:prstDash val="solid"/>
              <a:miter/>
            </a:ln>
          </p:spPr>
        </p:sp>
      </p:grpSp>
      <p:sp>
        <p:nvSpPr>
          <p:cNvPr id="5" name="TextBox 5"/>
          <p:cNvSpPr txBox="1"/>
          <p:nvPr/>
        </p:nvSpPr>
        <p:spPr>
          <a:xfrm>
            <a:off x="1188720" y="1965960"/>
            <a:ext cx="5437518" cy="376561"/>
          </a:xfrm>
          <a:prstGeom prst="rect">
            <a:avLst/>
          </a:prstGeom>
        </p:spPr>
        <p:txBody>
          <a:bodyPr lIns="0" tIns="0" rIns="0" bIns="0" rtlCol="0" anchor="t">
            <a:spAutoFit/>
          </a:bodyPr>
          <a:lstStyle/>
          <a:p>
            <a:pPr algn="l">
              <a:lnSpc>
                <a:spcPts val="3017"/>
              </a:lnSpc>
            </a:pPr>
            <a:r>
              <a:rPr lang="en-US" sz="2514" b="1">
                <a:solidFill>
                  <a:srgbClr val="5E7CE2"/>
                </a:solidFill>
                <a:latin typeface="Segoe UI Bold"/>
                <a:ea typeface="Segoe UI Bold"/>
                <a:cs typeface="Segoe UI Bold"/>
                <a:sym typeface="Segoe UI Bold"/>
              </a:rPr>
              <a:t>What is the Simple Calculator App?</a:t>
            </a:r>
          </a:p>
        </p:txBody>
      </p:sp>
      <p:sp>
        <p:nvSpPr>
          <p:cNvPr id="6" name="TextBox 6"/>
          <p:cNvSpPr txBox="1"/>
          <p:nvPr/>
        </p:nvSpPr>
        <p:spPr>
          <a:xfrm>
            <a:off x="1188720" y="2423208"/>
            <a:ext cx="15910103" cy="1368057"/>
          </a:xfrm>
          <a:prstGeom prst="rect">
            <a:avLst/>
          </a:prstGeom>
        </p:spPr>
        <p:txBody>
          <a:bodyPr lIns="0" tIns="0" rIns="0" bIns="0" rtlCol="0" anchor="t">
            <a:spAutoFit/>
          </a:bodyPr>
          <a:lstStyle/>
          <a:p>
            <a:pPr algn="l">
              <a:lnSpc>
                <a:spcPts val="3362"/>
              </a:lnSpc>
            </a:pPr>
            <a:r>
              <a:rPr lang="en-US" sz="2156">
                <a:solidFill>
                  <a:srgbClr val="000000"/>
                </a:solidFill>
                <a:latin typeface="Segoe UI"/>
                <a:ea typeface="Segoe UI"/>
                <a:cs typeface="Segoe UI"/>
                <a:sym typeface="Segoe UI"/>
              </a:rPr>
              <a:t>A mobile application built with Flutter that performs basic arithmetic calculations. Users enter numbers via interactive buttons, select mathematical operators (addition, subtraction, multiplication, division), and view real-time results. It demonstrates fundamental principles of mobile app development including UI design, user interaction, data management, and state updates.</a:t>
            </a:r>
          </a:p>
        </p:txBody>
      </p:sp>
      <p:sp>
        <p:nvSpPr>
          <p:cNvPr id="7" name="TextBox 7"/>
          <p:cNvSpPr txBox="1"/>
          <p:nvPr/>
        </p:nvSpPr>
        <p:spPr>
          <a:xfrm>
            <a:off x="1188720" y="4181789"/>
            <a:ext cx="4718418" cy="376561"/>
          </a:xfrm>
          <a:prstGeom prst="rect">
            <a:avLst/>
          </a:prstGeom>
        </p:spPr>
        <p:txBody>
          <a:bodyPr lIns="0" tIns="0" rIns="0" bIns="0" rtlCol="0" anchor="t">
            <a:spAutoFit/>
          </a:bodyPr>
          <a:lstStyle/>
          <a:p>
            <a:pPr algn="l">
              <a:lnSpc>
                <a:spcPts val="3017"/>
              </a:lnSpc>
            </a:pPr>
            <a:r>
              <a:rPr lang="en-US" sz="2514" b="1">
                <a:solidFill>
                  <a:srgbClr val="5E7CE2"/>
                </a:solidFill>
                <a:latin typeface="Segoe UI Bold"/>
                <a:ea typeface="Segoe UI Bold"/>
                <a:cs typeface="Segoe UI Bold"/>
                <a:sym typeface="Segoe UI Bold"/>
              </a:rPr>
              <a:t>Learning Objectives &amp; Purpose</a:t>
            </a:r>
          </a:p>
        </p:txBody>
      </p:sp>
      <p:sp>
        <p:nvSpPr>
          <p:cNvPr id="8" name="TextBox 8"/>
          <p:cNvSpPr txBox="1"/>
          <p:nvPr/>
        </p:nvSpPr>
        <p:spPr>
          <a:xfrm>
            <a:off x="1188720" y="4639037"/>
            <a:ext cx="15910103" cy="2304669"/>
          </a:xfrm>
          <a:prstGeom prst="rect">
            <a:avLst/>
          </a:prstGeom>
        </p:spPr>
        <p:txBody>
          <a:bodyPr lIns="0" tIns="0" rIns="0" bIns="0" rtlCol="0" anchor="t">
            <a:spAutoFit/>
          </a:bodyPr>
          <a:lstStyle/>
          <a:p>
            <a:pPr algn="l">
              <a:lnSpc>
                <a:spcPts val="2943"/>
              </a:lnSpc>
            </a:pPr>
            <a:r>
              <a:rPr lang="en-US" sz="1886" dirty="0">
                <a:solidFill>
                  <a:srgbClr val="000000"/>
                </a:solidFill>
                <a:latin typeface="Segoe UI"/>
                <a:ea typeface="Segoe UI"/>
                <a:cs typeface="Segoe UI"/>
                <a:sym typeface="Segoe UI"/>
              </a:rPr>
              <a:t>• Understand Dart programming fundamentals (variables, functions, operators, control flow)</a:t>
            </a:r>
          </a:p>
          <a:p>
            <a:pPr algn="l">
              <a:lnSpc>
                <a:spcPts val="2943"/>
              </a:lnSpc>
            </a:pPr>
            <a:r>
              <a:rPr lang="en-US" sz="1886" dirty="0">
                <a:solidFill>
                  <a:srgbClr val="000000"/>
                </a:solidFill>
                <a:latin typeface="Segoe UI"/>
                <a:ea typeface="Segoe UI"/>
                <a:cs typeface="Segoe UI"/>
                <a:sym typeface="Segoe UI"/>
              </a:rPr>
              <a:t>• Learn Flutter UI development and widget composition</a:t>
            </a:r>
          </a:p>
          <a:p>
            <a:pPr algn="l">
              <a:lnSpc>
                <a:spcPts val="2943"/>
              </a:lnSpc>
            </a:pPr>
            <a:r>
              <a:rPr lang="en-US" sz="1886" dirty="0">
                <a:solidFill>
                  <a:srgbClr val="000000"/>
                </a:solidFill>
                <a:latin typeface="Segoe UI"/>
                <a:ea typeface="Segoe UI"/>
                <a:cs typeface="Segoe UI"/>
                <a:sym typeface="Segoe UI"/>
              </a:rPr>
              <a:t>• Master button interaction and event handling</a:t>
            </a:r>
          </a:p>
          <a:p>
            <a:pPr algn="l">
              <a:lnSpc>
                <a:spcPts val="2943"/>
              </a:lnSpc>
            </a:pPr>
            <a:r>
              <a:rPr lang="en-US" sz="1886" dirty="0">
                <a:solidFill>
                  <a:srgbClr val="000000"/>
                </a:solidFill>
                <a:latin typeface="Segoe UI"/>
                <a:ea typeface="Segoe UI"/>
                <a:cs typeface="Segoe UI"/>
                <a:sym typeface="Segoe UI"/>
              </a:rPr>
              <a:t>• Implement state management using </a:t>
            </a:r>
            <a:r>
              <a:rPr lang="en-US" sz="1886" dirty="0" err="1">
                <a:solidFill>
                  <a:srgbClr val="000000"/>
                </a:solidFill>
                <a:latin typeface="Segoe UI"/>
                <a:ea typeface="Segoe UI"/>
                <a:cs typeface="Segoe UI"/>
                <a:sym typeface="Segoe UI"/>
              </a:rPr>
              <a:t>setState</a:t>
            </a:r>
            <a:r>
              <a:rPr lang="en-US" sz="1886" dirty="0">
                <a:solidFill>
                  <a:srgbClr val="000000"/>
                </a:solidFill>
                <a:latin typeface="Segoe UI"/>
                <a:ea typeface="Segoe UI"/>
                <a:cs typeface="Segoe UI"/>
                <a:sym typeface="Segoe UI"/>
              </a:rPr>
              <a:t>()</a:t>
            </a:r>
          </a:p>
          <a:p>
            <a:pPr algn="l">
              <a:lnSpc>
                <a:spcPts val="2943"/>
              </a:lnSpc>
            </a:pPr>
            <a:r>
              <a:rPr lang="en-US" sz="1886" dirty="0">
                <a:solidFill>
                  <a:srgbClr val="000000"/>
                </a:solidFill>
                <a:latin typeface="Segoe UI"/>
                <a:ea typeface="Segoe UI"/>
                <a:cs typeface="Segoe UI"/>
                <a:sym typeface="Segoe UI"/>
              </a:rPr>
              <a:t>• Practice Flutter UI layout using Rows and Columns</a:t>
            </a:r>
          </a:p>
          <a:p>
            <a:pPr algn="l">
              <a:lnSpc>
                <a:spcPts val="2943"/>
              </a:lnSpc>
            </a:pPr>
            <a:r>
              <a:rPr lang="en-US" sz="1886" dirty="0">
                <a:solidFill>
                  <a:srgbClr val="000000"/>
                </a:solidFill>
                <a:latin typeface="Segoe UI"/>
                <a:ea typeface="Segoe UI"/>
                <a:cs typeface="Segoe UI"/>
                <a:sym typeface="Segoe UI"/>
              </a:rPr>
              <a:t>• Gain hands-on mobile application development experience</a:t>
            </a:r>
          </a:p>
        </p:txBody>
      </p:sp>
      <p:sp>
        <p:nvSpPr>
          <p:cNvPr id="9" name="TextBox 9"/>
          <p:cNvSpPr txBox="1"/>
          <p:nvPr/>
        </p:nvSpPr>
        <p:spPr>
          <a:xfrm>
            <a:off x="1188720" y="7334231"/>
            <a:ext cx="2718759" cy="376561"/>
          </a:xfrm>
          <a:prstGeom prst="rect">
            <a:avLst/>
          </a:prstGeom>
        </p:spPr>
        <p:txBody>
          <a:bodyPr lIns="0" tIns="0" rIns="0" bIns="0" rtlCol="0" anchor="t">
            <a:spAutoFit/>
          </a:bodyPr>
          <a:lstStyle/>
          <a:p>
            <a:pPr algn="l">
              <a:lnSpc>
                <a:spcPts val="3017"/>
              </a:lnSpc>
            </a:pPr>
            <a:r>
              <a:rPr lang="en-US" sz="2514" b="1">
                <a:solidFill>
                  <a:srgbClr val="5E7CE2"/>
                </a:solidFill>
                <a:latin typeface="Segoe UI Bold"/>
                <a:ea typeface="Segoe UI Bold"/>
                <a:cs typeface="Segoe UI Bold"/>
                <a:sym typeface="Segoe UI Bold"/>
              </a:rPr>
              <a:t>Technology Stack</a:t>
            </a:r>
          </a:p>
        </p:txBody>
      </p:sp>
      <p:sp>
        <p:nvSpPr>
          <p:cNvPr id="10" name="TextBox 10"/>
          <p:cNvSpPr txBox="1"/>
          <p:nvPr/>
        </p:nvSpPr>
        <p:spPr>
          <a:xfrm>
            <a:off x="1188720" y="7791479"/>
            <a:ext cx="15909827" cy="1574368"/>
          </a:xfrm>
          <a:prstGeom prst="rect">
            <a:avLst/>
          </a:prstGeom>
        </p:spPr>
        <p:txBody>
          <a:bodyPr lIns="0" tIns="0" rIns="0" bIns="0" rtlCol="0" anchor="t">
            <a:spAutoFit/>
          </a:bodyPr>
          <a:lstStyle/>
          <a:p>
            <a:pPr algn="l">
              <a:lnSpc>
                <a:spcPts val="2943"/>
              </a:lnSpc>
            </a:pPr>
            <a:r>
              <a:rPr lang="en-US" sz="1886">
                <a:solidFill>
                  <a:srgbClr val="000000"/>
                </a:solidFill>
                <a:latin typeface="Segoe UI"/>
                <a:ea typeface="Segoe UI"/>
                <a:cs typeface="Segoe UI"/>
                <a:sym typeface="Segoe UI"/>
              </a:rPr>
              <a:t>Flutter: Google's cross-platform UI framework providing pre-built widgets, responsive layouts, and hot-reload for rapid development. Allows single codebase deployment to iOS and Android.</a:t>
            </a:r>
          </a:p>
          <a:p>
            <a:pPr algn="l">
              <a:lnSpc>
                <a:spcPts val="2943"/>
              </a:lnSpc>
            </a:pPr>
            <a:r>
              <a:rPr lang="en-US" sz="1886">
                <a:solidFill>
                  <a:srgbClr val="000000"/>
                </a:solidFill>
                <a:latin typeface="Segoe UI"/>
                <a:ea typeface="Segoe UI"/>
                <a:cs typeface="Segoe UI"/>
                <a:sym typeface="Segoe UI"/>
              </a:rPr>
              <a:t>Dart: Modern programming language designed for Flutter, featuring strong typing, null safety, and excellent support for object-oriented and functional programming paradigms.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2"/>
          <p:cNvSpPr txBox="1"/>
          <p:nvPr/>
        </p:nvSpPr>
        <p:spPr>
          <a:xfrm>
            <a:off x="1188720" y="594360"/>
            <a:ext cx="15910103" cy="731520"/>
          </a:xfrm>
          <a:prstGeom prst="rect">
            <a:avLst/>
          </a:prstGeom>
        </p:spPr>
        <p:txBody>
          <a:bodyPr lIns="0" tIns="0" rIns="0" bIns="0" rtlCol="0" anchor="t">
            <a:spAutoFit/>
          </a:bodyPr>
          <a:lstStyle/>
          <a:p>
            <a:pPr algn="l">
              <a:lnSpc>
                <a:spcPts val="7920"/>
              </a:lnSpc>
            </a:pPr>
            <a:r>
              <a:rPr lang="en-US" sz="6600" b="1">
                <a:solidFill>
                  <a:srgbClr val="19202C"/>
                </a:solidFill>
                <a:latin typeface="Segoe UI Bold"/>
                <a:ea typeface="Segoe UI Bold"/>
                <a:cs typeface="Segoe UI Bold"/>
                <a:sym typeface="Segoe UI Bold"/>
              </a:rPr>
              <a:t>Project Objectives &amp; Goals</a:t>
            </a:r>
          </a:p>
        </p:txBody>
      </p:sp>
      <p:grpSp>
        <p:nvGrpSpPr>
          <p:cNvPr id="3" name="Group 3"/>
          <p:cNvGrpSpPr/>
          <p:nvPr/>
        </p:nvGrpSpPr>
        <p:grpSpPr>
          <a:xfrm>
            <a:off x="1079421" y="1490901"/>
            <a:ext cx="3464766" cy="90630"/>
            <a:chOff x="0" y="0"/>
            <a:chExt cx="4619688" cy="120840"/>
          </a:xfrm>
        </p:grpSpPr>
        <p:sp>
          <p:nvSpPr>
            <p:cNvPr id="4" name="Freeform 4"/>
            <p:cNvSpPr/>
            <p:nvPr/>
          </p:nvSpPr>
          <p:spPr>
            <a:xfrm>
              <a:off x="0" y="0"/>
              <a:ext cx="4619625" cy="120777"/>
            </a:xfrm>
            <a:custGeom>
              <a:avLst/>
              <a:gdLst/>
              <a:ahLst/>
              <a:cxnLst/>
              <a:rect l="l" t="t" r="r" b="b"/>
              <a:pathLst>
                <a:path w="4619625" h="120777">
                  <a:moveTo>
                    <a:pt x="0" y="0"/>
                  </a:moveTo>
                  <a:lnTo>
                    <a:pt x="4619625" y="0"/>
                  </a:lnTo>
                  <a:lnTo>
                    <a:pt x="4619625" y="120777"/>
                  </a:lnTo>
                  <a:lnTo>
                    <a:pt x="0" y="120777"/>
                  </a:lnTo>
                  <a:close/>
                </a:path>
              </a:pathLst>
            </a:custGeom>
            <a:solidFill>
              <a:srgbClr val="5E7CE2"/>
            </a:solidFill>
            <a:ln w="14288" cap="sq">
              <a:solidFill>
                <a:srgbClr val="5E7CE2"/>
              </a:solidFill>
              <a:prstDash val="solid"/>
              <a:miter/>
            </a:ln>
          </p:spPr>
        </p:sp>
      </p:grpSp>
      <p:grpSp>
        <p:nvGrpSpPr>
          <p:cNvPr id="5" name="Group 5"/>
          <p:cNvGrpSpPr/>
          <p:nvPr/>
        </p:nvGrpSpPr>
        <p:grpSpPr>
          <a:xfrm>
            <a:off x="1073468" y="1896427"/>
            <a:ext cx="16140589" cy="1144905"/>
            <a:chOff x="0" y="0"/>
            <a:chExt cx="21520785" cy="1526540"/>
          </a:xfrm>
        </p:grpSpPr>
        <p:sp>
          <p:nvSpPr>
            <p:cNvPr id="6" name="Freeform 6"/>
            <p:cNvSpPr/>
            <p:nvPr/>
          </p:nvSpPr>
          <p:spPr>
            <a:xfrm>
              <a:off x="0" y="0"/>
              <a:ext cx="21520786" cy="1526540"/>
            </a:xfrm>
            <a:custGeom>
              <a:avLst/>
              <a:gdLst/>
              <a:ahLst/>
              <a:cxnLst/>
              <a:rect l="l" t="t" r="r" b="b"/>
              <a:pathLst>
                <a:path w="21520786" h="1526540">
                  <a:moveTo>
                    <a:pt x="0" y="0"/>
                  </a:moveTo>
                  <a:lnTo>
                    <a:pt x="21520786" y="0"/>
                  </a:lnTo>
                  <a:lnTo>
                    <a:pt x="21520786" y="1526540"/>
                  </a:lnTo>
                  <a:lnTo>
                    <a:pt x="0" y="1526540"/>
                  </a:lnTo>
                  <a:close/>
                </a:path>
              </a:pathLst>
            </a:custGeom>
            <a:solidFill>
              <a:srgbClr val="FFFFFF"/>
            </a:solidFill>
            <a:ln w="19050" cap="sq">
              <a:solidFill>
                <a:srgbClr val="E2E8F0"/>
              </a:solidFill>
              <a:prstDash val="solid"/>
              <a:miter/>
            </a:ln>
          </p:spPr>
        </p:sp>
      </p:grpSp>
      <p:sp>
        <p:nvSpPr>
          <p:cNvPr id="7" name="TextBox 7"/>
          <p:cNvSpPr txBox="1"/>
          <p:nvPr/>
        </p:nvSpPr>
        <p:spPr>
          <a:xfrm>
            <a:off x="1463040" y="1990725"/>
            <a:ext cx="2727960" cy="303695"/>
          </a:xfrm>
          <a:prstGeom prst="rect">
            <a:avLst/>
          </a:prstGeom>
        </p:spPr>
        <p:txBody>
          <a:bodyPr lIns="0" tIns="0" rIns="0" bIns="0" rtlCol="0" anchor="t">
            <a:spAutoFit/>
          </a:bodyPr>
          <a:lstStyle/>
          <a:p>
            <a:pPr algn="l">
              <a:lnSpc>
                <a:spcPts val="1980"/>
              </a:lnSpc>
            </a:pPr>
            <a:r>
              <a:rPr lang="en-US" sz="1650" b="1">
                <a:solidFill>
                  <a:srgbClr val="10B981"/>
                </a:solidFill>
                <a:latin typeface="Calibri (MS) Bold"/>
                <a:ea typeface="Calibri (MS) Bold"/>
                <a:cs typeface="Calibri (MS) Bold"/>
                <a:sym typeface="Calibri (MS) Bold"/>
              </a:rPr>
              <a:t>✓ Build Functional Calculator</a:t>
            </a:r>
          </a:p>
        </p:txBody>
      </p:sp>
      <p:sp>
        <p:nvSpPr>
          <p:cNvPr id="8" name="TextBox 8"/>
          <p:cNvSpPr txBox="1"/>
          <p:nvPr/>
        </p:nvSpPr>
        <p:spPr>
          <a:xfrm>
            <a:off x="1874520" y="2487168"/>
            <a:ext cx="14904720" cy="388620"/>
          </a:xfrm>
          <a:prstGeom prst="rect">
            <a:avLst/>
          </a:prstGeom>
        </p:spPr>
        <p:txBody>
          <a:bodyPr lIns="0" tIns="0" rIns="0" bIns="0" rtlCol="0" anchor="t">
            <a:spAutoFit/>
          </a:bodyPr>
          <a:lstStyle/>
          <a:p>
            <a:pPr algn="l">
              <a:lnSpc>
                <a:spcPts val="1709"/>
              </a:lnSpc>
            </a:pPr>
            <a:r>
              <a:rPr lang="en-US" sz="1425">
                <a:solidFill>
                  <a:srgbClr val="000000"/>
                </a:solidFill>
                <a:latin typeface="Segoe UI"/>
                <a:ea typeface="Segoe UI"/>
                <a:cs typeface="Segoe UI"/>
                <a:sym typeface="Segoe UI"/>
              </a:rPr>
              <a:t>Create a fully working calculator with polished UI, responsive buttons, and accurate calculations</a:t>
            </a:r>
          </a:p>
        </p:txBody>
      </p:sp>
      <p:grpSp>
        <p:nvGrpSpPr>
          <p:cNvPr id="9" name="Group 9"/>
          <p:cNvGrpSpPr/>
          <p:nvPr/>
        </p:nvGrpSpPr>
        <p:grpSpPr>
          <a:xfrm>
            <a:off x="1073468" y="3199448"/>
            <a:ext cx="16140589" cy="1144905"/>
            <a:chOff x="0" y="0"/>
            <a:chExt cx="21520785" cy="1526540"/>
          </a:xfrm>
        </p:grpSpPr>
        <p:sp>
          <p:nvSpPr>
            <p:cNvPr id="10" name="Freeform 10"/>
            <p:cNvSpPr/>
            <p:nvPr/>
          </p:nvSpPr>
          <p:spPr>
            <a:xfrm>
              <a:off x="0" y="0"/>
              <a:ext cx="21520786" cy="1526540"/>
            </a:xfrm>
            <a:custGeom>
              <a:avLst/>
              <a:gdLst/>
              <a:ahLst/>
              <a:cxnLst/>
              <a:rect l="l" t="t" r="r" b="b"/>
              <a:pathLst>
                <a:path w="21520786" h="1526540">
                  <a:moveTo>
                    <a:pt x="0" y="0"/>
                  </a:moveTo>
                  <a:lnTo>
                    <a:pt x="21520786" y="0"/>
                  </a:lnTo>
                  <a:lnTo>
                    <a:pt x="21520786" y="1526540"/>
                  </a:lnTo>
                  <a:lnTo>
                    <a:pt x="0" y="1526540"/>
                  </a:lnTo>
                  <a:close/>
                </a:path>
              </a:pathLst>
            </a:custGeom>
            <a:solidFill>
              <a:srgbClr val="FFFFFF"/>
            </a:solidFill>
            <a:ln w="19050" cap="sq">
              <a:solidFill>
                <a:srgbClr val="E2E8F0"/>
              </a:solidFill>
              <a:prstDash val="solid"/>
              <a:miter/>
            </a:ln>
          </p:spPr>
        </p:sp>
      </p:grpSp>
      <p:sp>
        <p:nvSpPr>
          <p:cNvPr id="11" name="TextBox 11"/>
          <p:cNvSpPr txBox="1"/>
          <p:nvPr/>
        </p:nvSpPr>
        <p:spPr>
          <a:xfrm>
            <a:off x="1463040" y="3320415"/>
            <a:ext cx="15361463" cy="337185"/>
          </a:xfrm>
          <a:prstGeom prst="rect">
            <a:avLst/>
          </a:prstGeom>
        </p:spPr>
        <p:txBody>
          <a:bodyPr lIns="0" tIns="0" rIns="0" bIns="0" rtlCol="0" anchor="t">
            <a:spAutoFit/>
          </a:bodyPr>
          <a:lstStyle/>
          <a:p>
            <a:pPr algn="l">
              <a:lnSpc>
                <a:spcPts val="1980"/>
              </a:lnSpc>
            </a:pPr>
            <a:r>
              <a:rPr lang="en-US" sz="1650" b="1">
                <a:solidFill>
                  <a:srgbClr val="10B981"/>
                </a:solidFill>
                <a:latin typeface="Calibri (MS) Bold"/>
                <a:ea typeface="Calibri (MS) Bold"/>
                <a:cs typeface="Calibri (MS) Bold"/>
                <a:sym typeface="Calibri (MS) Bold"/>
              </a:rPr>
              <a:t>✓ Master Dart Programming</a:t>
            </a:r>
          </a:p>
        </p:txBody>
      </p:sp>
      <p:sp>
        <p:nvSpPr>
          <p:cNvPr id="12" name="TextBox 12"/>
          <p:cNvSpPr txBox="1"/>
          <p:nvPr/>
        </p:nvSpPr>
        <p:spPr>
          <a:xfrm>
            <a:off x="1874520" y="3790188"/>
            <a:ext cx="14904720" cy="388620"/>
          </a:xfrm>
          <a:prstGeom prst="rect">
            <a:avLst/>
          </a:prstGeom>
        </p:spPr>
        <p:txBody>
          <a:bodyPr lIns="0" tIns="0" rIns="0" bIns="0" rtlCol="0" anchor="t">
            <a:spAutoFit/>
          </a:bodyPr>
          <a:lstStyle/>
          <a:p>
            <a:pPr algn="l">
              <a:lnSpc>
                <a:spcPts val="1709"/>
              </a:lnSpc>
            </a:pPr>
            <a:r>
              <a:rPr lang="en-US" sz="1425">
                <a:solidFill>
                  <a:srgbClr val="000000"/>
                </a:solidFill>
                <a:latin typeface="Segoe UI"/>
                <a:ea typeface="Segoe UI"/>
                <a:cs typeface="Segoe UI"/>
                <a:sym typeface="Segoe UI"/>
              </a:rPr>
              <a:t>Learn variables, data types, operators, functions and conditionals in Dart</a:t>
            </a:r>
          </a:p>
        </p:txBody>
      </p:sp>
      <p:grpSp>
        <p:nvGrpSpPr>
          <p:cNvPr id="13" name="Group 13"/>
          <p:cNvGrpSpPr/>
          <p:nvPr/>
        </p:nvGrpSpPr>
        <p:grpSpPr>
          <a:xfrm>
            <a:off x="1073468" y="4502468"/>
            <a:ext cx="16140589" cy="1144905"/>
            <a:chOff x="0" y="0"/>
            <a:chExt cx="21520785" cy="1526540"/>
          </a:xfrm>
        </p:grpSpPr>
        <p:sp>
          <p:nvSpPr>
            <p:cNvPr id="14" name="Freeform 14"/>
            <p:cNvSpPr/>
            <p:nvPr/>
          </p:nvSpPr>
          <p:spPr>
            <a:xfrm>
              <a:off x="0" y="0"/>
              <a:ext cx="21520786" cy="1526540"/>
            </a:xfrm>
            <a:custGeom>
              <a:avLst/>
              <a:gdLst/>
              <a:ahLst/>
              <a:cxnLst/>
              <a:rect l="l" t="t" r="r" b="b"/>
              <a:pathLst>
                <a:path w="21520786" h="1526540">
                  <a:moveTo>
                    <a:pt x="0" y="0"/>
                  </a:moveTo>
                  <a:lnTo>
                    <a:pt x="21520786" y="0"/>
                  </a:lnTo>
                  <a:lnTo>
                    <a:pt x="21520786" y="1526540"/>
                  </a:lnTo>
                  <a:lnTo>
                    <a:pt x="0" y="1526540"/>
                  </a:lnTo>
                  <a:close/>
                </a:path>
              </a:pathLst>
            </a:custGeom>
            <a:solidFill>
              <a:srgbClr val="FFFFFF"/>
            </a:solidFill>
            <a:ln w="19050" cap="sq">
              <a:solidFill>
                <a:srgbClr val="E2E8F0"/>
              </a:solidFill>
              <a:prstDash val="solid"/>
              <a:miter/>
            </a:ln>
          </p:spPr>
        </p:sp>
      </p:grpSp>
      <p:sp>
        <p:nvSpPr>
          <p:cNvPr id="15" name="TextBox 15"/>
          <p:cNvSpPr txBox="1"/>
          <p:nvPr/>
        </p:nvSpPr>
        <p:spPr>
          <a:xfrm>
            <a:off x="1463040" y="4623435"/>
            <a:ext cx="15361463" cy="337185"/>
          </a:xfrm>
          <a:prstGeom prst="rect">
            <a:avLst/>
          </a:prstGeom>
        </p:spPr>
        <p:txBody>
          <a:bodyPr lIns="0" tIns="0" rIns="0" bIns="0" rtlCol="0" anchor="t">
            <a:spAutoFit/>
          </a:bodyPr>
          <a:lstStyle/>
          <a:p>
            <a:pPr algn="l">
              <a:lnSpc>
                <a:spcPts val="1980"/>
              </a:lnSpc>
            </a:pPr>
            <a:r>
              <a:rPr lang="en-US" sz="1650" b="1">
                <a:solidFill>
                  <a:srgbClr val="10B981"/>
                </a:solidFill>
                <a:latin typeface="Calibri (MS) Bold"/>
                <a:ea typeface="Calibri (MS) Bold"/>
                <a:cs typeface="Calibri (MS) Bold"/>
                <a:sym typeface="Calibri (MS) Bold"/>
              </a:rPr>
              <a:t>✓ Implement User Interaction</a:t>
            </a:r>
          </a:p>
        </p:txBody>
      </p:sp>
      <p:sp>
        <p:nvSpPr>
          <p:cNvPr id="16" name="TextBox 16"/>
          <p:cNvSpPr txBox="1"/>
          <p:nvPr/>
        </p:nvSpPr>
        <p:spPr>
          <a:xfrm>
            <a:off x="1874520" y="5093208"/>
            <a:ext cx="14904720" cy="388620"/>
          </a:xfrm>
          <a:prstGeom prst="rect">
            <a:avLst/>
          </a:prstGeom>
        </p:spPr>
        <p:txBody>
          <a:bodyPr lIns="0" tIns="0" rIns="0" bIns="0" rtlCol="0" anchor="t">
            <a:spAutoFit/>
          </a:bodyPr>
          <a:lstStyle/>
          <a:p>
            <a:pPr algn="l">
              <a:lnSpc>
                <a:spcPts val="1709"/>
              </a:lnSpc>
            </a:pPr>
            <a:r>
              <a:rPr lang="en-US" sz="1425">
                <a:solidFill>
                  <a:srgbClr val="000000"/>
                </a:solidFill>
                <a:latin typeface="Segoe UI"/>
                <a:ea typeface="Segoe UI"/>
                <a:cs typeface="Segoe UI"/>
                <a:sym typeface="Segoe UI"/>
              </a:rPr>
              <a:t>Handle button presses, capture user input, and trigger appropriate calculations</a:t>
            </a:r>
          </a:p>
        </p:txBody>
      </p:sp>
      <p:grpSp>
        <p:nvGrpSpPr>
          <p:cNvPr id="17" name="Group 17"/>
          <p:cNvGrpSpPr/>
          <p:nvPr/>
        </p:nvGrpSpPr>
        <p:grpSpPr>
          <a:xfrm>
            <a:off x="1073468" y="5805488"/>
            <a:ext cx="16140589" cy="1144905"/>
            <a:chOff x="0" y="0"/>
            <a:chExt cx="21520785" cy="1526540"/>
          </a:xfrm>
        </p:grpSpPr>
        <p:sp>
          <p:nvSpPr>
            <p:cNvPr id="18" name="Freeform 18"/>
            <p:cNvSpPr/>
            <p:nvPr/>
          </p:nvSpPr>
          <p:spPr>
            <a:xfrm>
              <a:off x="0" y="0"/>
              <a:ext cx="21520786" cy="1526540"/>
            </a:xfrm>
            <a:custGeom>
              <a:avLst/>
              <a:gdLst/>
              <a:ahLst/>
              <a:cxnLst/>
              <a:rect l="l" t="t" r="r" b="b"/>
              <a:pathLst>
                <a:path w="21520786" h="1526540">
                  <a:moveTo>
                    <a:pt x="0" y="0"/>
                  </a:moveTo>
                  <a:lnTo>
                    <a:pt x="21520786" y="0"/>
                  </a:lnTo>
                  <a:lnTo>
                    <a:pt x="21520786" y="1526540"/>
                  </a:lnTo>
                  <a:lnTo>
                    <a:pt x="0" y="1526540"/>
                  </a:lnTo>
                  <a:close/>
                </a:path>
              </a:pathLst>
            </a:custGeom>
            <a:solidFill>
              <a:srgbClr val="FFFFFF"/>
            </a:solidFill>
            <a:ln w="19050" cap="sq">
              <a:solidFill>
                <a:srgbClr val="E2E8F0"/>
              </a:solidFill>
              <a:prstDash val="solid"/>
              <a:miter/>
            </a:ln>
          </p:spPr>
        </p:sp>
      </p:grpSp>
      <p:sp>
        <p:nvSpPr>
          <p:cNvPr id="19" name="TextBox 19"/>
          <p:cNvSpPr txBox="1"/>
          <p:nvPr/>
        </p:nvSpPr>
        <p:spPr>
          <a:xfrm>
            <a:off x="1463040" y="5926455"/>
            <a:ext cx="15361463" cy="337185"/>
          </a:xfrm>
          <a:prstGeom prst="rect">
            <a:avLst/>
          </a:prstGeom>
        </p:spPr>
        <p:txBody>
          <a:bodyPr lIns="0" tIns="0" rIns="0" bIns="0" rtlCol="0" anchor="t">
            <a:spAutoFit/>
          </a:bodyPr>
          <a:lstStyle/>
          <a:p>
            <a:pPr algn="l">
              <a:lnSpc>
                <a:spcPts val="1980"/>
              </a:lnSpc>
            </a:pPr>
            <a:r>
              <a:rPr lang="en-US" sz="1650" b="1">
                <a:solidFill>
                  <a:srgbClr val="10B981"/>
                </a:solidFill>
                <a:latin typeface="Calibri (MS) Bold"/>
                <a:ea typeface="Calibri (MS) Bold"/>
                <a:cs typeface="Calibri (MS) Bold"/>
                <a:sym typeface="Calibri (MS) Bold"/>
              </a:rPr>
              <a:t>✓ Handle Arithmetic Operations</a:t>
            </a:r>
          </a:p>
        </p:txBody>
      </p:sp>
      <p:sp>
        <p:nvSpPr>
          <p:cNvPr id="20" name="TextBox 20"/>
          <p:cNvSpPr txBox="1"/>
          <p:nvPr/>
        </p:nvSpPr>
        <p:spPr>
          <a:xfrm>
            <a:off x="1874520" y="6396228"/>
            <a:ext cx="14904720" cy="388620"/>
          </a:xfrm>
          <a:prstGeom prst="rect">
            <a:avLst/>
          </a:prstGeom>
        </p:spPr>
        <p:txBody>
          <a:bodyPr lIns="0" tIns="0" rIns="0" bIns="0" rtlCol="0" anchor="t">
            <a:spAutoFit/>
          </a:bodyPr>
          <a:lstStyle/>
          <a:p>
            <a:pPr algn="l">
              <a:lnSpc>
                <a:spcPts val="1709"/>
              </a:lnSpc>
            </a:pPr>
            <a:r>
              <a:rPr lang="en-US" sz="1425">
                <a:solidFill>
                  <a:srgbClr val="000000"/>
                </a:solidFill>
                <a:latin typeface="Segoe UI"/>
                <a:ea typeface="Segoe UI"/>
                <a:cs typeface="Segoe UI"/>
                <a:sym typeface="Segoe UI"/>
              </a:rPr>
              <a:t>Implement +, −, ×, ÷ with an error message for division by zero</a:t>
            </a:r>
          </a:p>
        </p:txBody>
      </p:sp>
      <p:grpSp>
        <p:nvGrpSpPr>
          <p:cNvPr id="21" name="Group 21"/>
          <p:cNvGrpSpPr/>
          <p:nvPr/>
        </p:nvGrpSpPr>
        <p:grpSpPr>
          <a:xfrm>
            <a:off x="1073468" y="7108507"/>
            <a:ext cx="16140589" cy="1144905"/>
            <a:chOff x="0" y="0"/>
            <a:chExt cx="21520785" cy="1526540"/>
          </a:xfrm>
        </p:grpSpPr>
        <p:sp>
          <p:nvSpPr>
            <p:cNvPr id="22" name="Freeform 22"/>
            <p:cNvSpPr/>
            <p:nvPr/>
          </p:nvSpPr>
          <p:spPr>
            <a:xfrm>
              <a:off x="0" y="0"/>
              <a:ext cx="21520786" cy="1526540"/>
            </a:xfrm>
            <a:custGeom>
              <a:avLst/>
              <a:gdLst/>
              <a:ahLst/>
              <a:cxnLst/>
              <a:rect l="l" t="t" r="r" b="b"/>
              <a:pathLst>
                <a:path w="21520786" h="1526540">
                  <a:moveTo>
                    <a:pt x="0" y="0"/>
                  </a:moveTo>
                  <a:lnTo>
                    <a:pt x="21520786" y="0"/>
                  </a:lnTo>
                  <a:lnTo>
                    <a:pt x="21520786" y="1526540"/>
                  </a:lnTo>
                  <a:lnTo>
                    <a:pt x="0" y="1526540"/>
                  </a:lnTo>
                  <a:close/>
                </a:path>
              </a:pathLst>
            </a:custGeom>
            <a:solidFill>
              <a:srgbClr val="FFFFFF"/>
            </a:solidFill>
            <a:ln w="19050" cap="sq">
              <a:solidFill>
                <a:srgbClr val="E2E8F0"/>
              </a:solidFill>
              <a:prstDash val="solid"/>
              <a:miter/>
            </a:ln>
          </p:spPr>
        </p:sp>
      </p:grpSp>
      <p:sp>
        <p:nvSpPr>
          <p:cNvPr id="23" name="TextBox 23"/>
          <p:cNvSpPr txBox="1"/>
          <p:nvPr/>
        </p:nvSpPr>
        <p:spPr>
          <a:xfrm>
            <a:off x="1463040" y="7229475"/>
            <a:ext cx="15361463" cy="337185"/>
          </a:xfrm>
          <a:prstGeom prst="rect">
            <a:avLst/>
          </a:prstGeom>
        </p:spPr>
        <p:txBody>
          <a:bodyPr lIns="0" tIns="0" rIns="0" bIns="0" rtlCol="0" anchor="t">
            <a:spAutoFit/>
          </a:bodyPr>
          <a:lstStyle/>
          <a:p>
            <a:pPr algn="l">
              <a:lnSpc>
                <a:spcPts val="1980"/>
              </a:lnSpc>
            </a:pPr>
            <a:r>
              <a:rPr lang="en-US" sz="1650" b="1">
                <a:solidFill>
                  <a:srgbClr val="10B981"/>
                </a:solidFill>
                <a:latin typeface="Calibri (MS) Bold"/>
                <a:ea typeface="Calibri (MS) Bold"/>
                <a:cs typeface="Calibri (MS) Bold"/>
                <a:sym typeface="Calibri (MS) Bold"/>
              </a:rPr>
              <a:t>✓ Practice UI Layout</a:t>
            </a:r>
          </a:p>
        </p:txBody>
      </p:sp>
      <p:sp>
        <p:nvSpPr>
          <p:cNvPr id="24" name="TextBox 24"/>
          <p:cNvSpPr txBox="1"/>
          <p:nvPr/>
        </p:nvSpPr>
        <p:spPr>
          <a:xfrm>
            <a:off x="1874520" y="7699248"/>
            <a:ext cx="14904720" cy="388620"/>
          </a:xfrm>
          <a:prstGeom prst="rect">
            <a:avLst/>
          </a:prstGeom>
        </p:spPr>
        <p:txBody>
          <a:bodyPr lIns="0" tIns="0" rIns="0" bIns="0" rtlCol="0" anchor="t">
            <a:spAutoFit/>
          </a:bodyPr>
          <a:lstStyle/>
          <a:p>
            <a:pPr algn="l">
              <a:lnSpc>
                <a:spcPts val="1709"/>
              </a:lnSpc>
            </a:pPr>
            <a:r>
              <a:rPr lang="en-US" sz="1425">
                <a:solidFill>
                  <a:srgbClr val="000000"/>
                </a:solidFill>
                <a:latin typeface="Segoe UI"/>
                <a:ea typeface="Segoe UI"/>
                <a:cs typeface="Segoe UI"/>
                <a:sym typeface="Segoe UI"/>
              </a:rPr>
              <a:t>Use Flutter's layout widgets: Scaffold, Column, Row, Container, Expanded</a:t>
            </a:r>
          </a:p>
        </p:txBody>
      </p:sp>
      <p:grpSp>
        <p:nvGrpSpPr>
          <p:cNvPr id="25" name="Group 25"/>
          <p:cNvGrpSpPr/>
          <p:nvPr/>
        </p:nvGrpSpPr>
        <p:grpSpPr>
          <a:xfrm>
            <a:off x="1073468" y="8411528"/>
            <a:ext cx="16140589" cy="1144905"/>
            <a:chOff x="0" y="0"/>
            <a:chExt cx="21520785" cy="1526540"/>
          </a:xfrm>
        </p:grpSpPr>
        <p:sp>
          <p:nvSpPr>
            <p:cNvPr id="26" name="Freeform 26"/>
            <p:cNvSpPr/>
            <p:nvPr/>
          </p:nvSpPr>
          <p:spPr>
            <a:xfrm>
              <a:off x="0" y="0"/>
              <a:ext cx="21520786" cy="1526540"/>
            </a:xfrm>
            <a:custGeom>
              <a:avLst/>
              <a:gdLst/>
              <a:ahLst/>
              <a:cxnLst/>
              <a:rect l="l" t="t" r="r" b="b"/>
              <a:pathLst>
                <a:path w="21520786" h="1526540">
                  <a:moveTo>
                    <a:pt x="0" y="0"/>
                  </a:moveTo>
                  <a:lnTo>
                    <a:pt x="21520786" y="0"/>
                  </a:lnTo>
                  <a:lnTo>
                    <a:pt x="21520786" y="1526540"/>
                  </a:lnTo>
                  <a:lnTo>
                    <a:pt x="0" y="1526540"/>
                  </a:lnTo>
                  <a:close/>
                </a:path>
              </a:pathLst>
            </a:custGeom>
            <a:solidFill>
              <a:srgbClr val="FFFFFF"/>
            </a:solidFill>
            <a:ln w="19050" cap="sq">
              <a:solidFill>
                <a:srgbClr val="E2E8F0"/>
              </a:solidFill>
              <a:prstDash val="solid"/>
              <a:miter/>
            </a:ln>
          </p:spPr>
        </p:sp>
      </p:grpSp>
      <p:sp>
        <p:nvSpPr>
          <p:cNvPr id="27" name="TextBox 27"/>
          <p:cNvSpPr txBox="1"/>
          <p:nvPr/>
        </p:nvSpPr>
        <p:spPr>
          <a:xfrm>
            <a:off x="1463040" y="8532495"/>
            <a:ext cx="15361463" cy="337185"/>
          </a:xfrm>
          <a:prstGeom prst="rect">
            <a:avLst/>
          </a:prstGeom>
        </p:spPr>
        <p:txBody>
          <a:bodyPr lIns="0" tIns="0" rIns="0" bIns="0" rtlCol="0" anchor="t">
            <a:spAutoFit/>
          </a:bodyPr>
          <a:lstStyle/>
          <a:p>
            <a:pPr algn="l">
              <a:lnSpc>
                <a:spcPts val="1980"/>
              </a:lnSpc>
            </a:pPr>
            <a:r>
              <a:rPr lang="en-US" sz="1650" b="1">
                <a:solidFill>
                  <a:srgbClr val="10B981"/>
                </a:solidFill>
                <a:latin typeface="Calibri (MS) Bold"/>
                <a:ea typeface="Calibri (MS) Bold"/>
                <a:cs typeface="Calibri (MS) Bold"/>
                <a:sym typeface="Calibri (MS) Bold"/>
              </a:rPr>
              <a:t>✓ State Management</a:t>
            </a:r>
          </a:p>
        </p:txBody>
      </p:sp>
      <p:sp>
        <p:nvSpPr>
          <p:cNvPr id="28" name="TextBox 28"/>
          <p:cNvSpPr txBox="1"/>
          <p:nvPr/>
        </p:nvSpPr>
        <p:spPr>
          <a:xfrm>
            <a:off x="1874520" y="9002268"/>
            <a:ext cx="14904720" cy="388620"/>
          </a:xfrm>
          <a:prstGeom prst="rect">
            <a:avLst/>
          </a:prstGeom>
        </p:spPr>
        <p:txBody>
          <a:bodyPr lIns="0" tIns="0" rIns="0" bIns="0" rtlCol="0" anchor="t">
            <a:spAutoFit/>
          </a:bodyPr>
          <a:lstStyle/>
          <a:p>
            <a:pPr algn="l">
              <a:lnSpc>
                <a:spcPts val="1709"/>
              </a:lnSpc>
            </a:pPr>
            <a:r>
              <a:rPr lang="en-US" sz="1425">
                <a:solidFill>
                  <a:srgbClr val="000000"/>
                </a:solidFill>
                <a:latin typeface="Segoe UI"/>
                <a:ea typeface="Segoe UI"/>
                <a:cs typeface="Segoe UI"/>
                <a:sym typeface="Segoe UI"/>
              </a:rPr>
              <a:t>Use setState() to trigger UI rebuilds when application data changes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2"/>
          <p:cNvSpPr txBox="1"/>
          <p:nvPr/>
        </p:nvSpPr>
        <p:spPr>
          <a:xfrm>
            <a:off x="1188720" y="594360"/>
            <a:ext cx="15910103" cy="731520"/>
          </a:xfrm>
          <a:prstGeom prst="rect">
            <a:avLst/>
          </a:prstGeom>
        </p:spPr>
        <p:txBody>
          <a:bodyPr lIns="0" tIns="0" rIns="0" bIns="0" rtlCol="0" anchor="t">
            <a:spAutoFit/>
          </a:bodyPr>
          <a:lstStyle/>
          <a:p>
            <a:pPr algn="l">
              <a:lnSpc>
                <a:spcPts val="7920"/>
              </a:lnSpc>
            </a:pPr>
            <a:r>
              <a:rPr lang="en-US" sz="6600" b="1">
                <a:solidFill>
                  <a:srgbClr val="19202C"/>
                </a:solidFill>
                <a:latin typeface="Segoe UI Bold"/>
                <a:ea typeface="Segoe UI Bold"/>
                <a:cs typeface="Segoe UI Bold"/>
                <a:sym typeface="Segoe UI Bold"/>
              </a:rPr>
              <a:t>Core Technologies &amp; Dart Concepts</a:t>
            </a:r>
          </a:p>
        </p:txBody>
      </p:sp>
      <p:grpSp>
        <p:nvGrpSpPr>
          <p:cNvPr id="3" name="Group 3"/>
          <p:cNvGrpSpPr/>
          <p:nvPr/>
        </p:nvGrpSpPr>
        <p:grpSpPr>
          <a:xfrm>
            <a:off x="1079421" y="1490901"/>
            <a:ext cx="4424886" cy="90630"/>
            <a:chOff x="0" y="0"/>
            <a:chExt cx="5899848" cy="120840"/>
          </a:xfrm>
        </p:grpSpPr>
        <p:sp>
          <p:nvSpPr>
            <p:cNvPr id="4" name="Freeform 4"/>
            <p:cNvSpPr/>
            <p:nvPr/>
          </p:nvSpPr>
          <p:spPr>
            <a:xfrm>
              <a:off x="0" y="0"/>
              <a:ext cx="5899785" cy="120777"/>
            </a:xfrm>
            <a:custGeom>
              <a:avLst/>
              <a:gdLst/>
              <a:ahLst/>
              <a:cxnLst/>
              <a:rect l="l" t="t" r="r" b="b"/>
              <a:pathLst>
                <a:path w="5899785" h="120777">
                  <a:moveTo>
                    <a:pt x="0" y="0"/>
                  </a:moveTo>
                  <a:lnTo>
                    <a:pt x="5899785" y="0"/>
                  </a:lnTo>
                  <a:lnTo>
                    <a:pt x="5899785" y="120777"/>
                  </a:lnTo>
                  <a:lnTo>
                    <a:pt x="0" y="120777"/>
                  </a:lnTo>
                  <a:close/>
                </a:path>
              </a:pathLst>
            </a:custGeom>
            <a:solidFill>
              <a:srgbClr val="5E7CE2"/>
            </a:solidFill>
            <a:ln w="14288" cap="sq">
              <a:solidFill>
                <a:srgbClr val="5E7CE2"/>
              </a:solidFill>
              <a:prstDash val="solid"/>
              <a:miter/>
            </a:ln>
          </p:spPr>
        </p:sp>
      </p:grpSp>
      <p:grpSp>
        <p:nvGrpSpPr>
          <p:cNvPr id="5" name="Group 5"/>
          <p:cNvGrpSpPr/>
          <p:nvPr/>
        </p:nvGrpSpPr>
        <p:grpSpPr>
          <a:xfrm>
            <a:off x="1072505" y="1881711"/>
            <a:ext cx="16140589" cy="1419225"/>
            <a:chOff x="0" y="0"/>
            <a:chExt cx="21520785" cy="1892300"/>
          </a:xfrm>
        </p:grpSpPr>
        <p:sp>
          <p:nvSpPr>
            <p:cNvPr id="6" name="Freeform 6"/>
            <p:cNvSpPr/>
            <p:nvPr/>
          </p:nvSpPr>
          <p:spPr>
            <a:xfrm>
              <a:off x="0" y="0"/>
              <a:ext cx="21520786" cy="1892300"/>
            </a:xfrm>
            <a:custGeom>
              <a:avLst/>
              <a:gdLst/>
              <a:ahLst/>
              <a:cxnLst/>
              <a:rect l="l" t="t" r="r" b="b"/>
              <a:pathLst>
                <a:path w="21520786" h="1892300">
                  <a:moveTo>
                    <a:pt x="0" y="0"/>
                  </a:moveTo>
                  <a:lnTo>
                    <a:pt x="21520786" y="0"/>
                  </a:lnTo>
                  <a:lnTo>
                    <a:pt x="21520786" y="1892300"/>
                  </a:lnTo>
                  <a:lnTo>
                    <a:pt x="0" y="1892300"/>
                  </a:lnTo>
                  <a:close/>
                </a:path>
              </a:pathLst>
            </a:custGeom>
            <a:solidFill>
              <a:srgbClr val="FFFFFF"/>
            </a:solidFill>
            <a:ln w="19050" cap="sq">
              <a:solidFill>
                <a:srgbClr val="E2E8F0"/>
              </a:solidFill>
              <a:prstDash val="solid"/>
              <a:miter/>
            </a:ln>
          </p:spPr>
        </p:sp>
      </p:grpSp>
      <p:sp>
        <p:nvSpPr>
          <p:cNvPr id="7" name="TextBox 7"/>
          <p:cNvSpPr txBox="1"/>
          <p:nvPr/>
        </p:nvSpPr>
        <p:spPr>
          <a:xfrm>
            <a:off x="1462078" y="2001536"/>
            <a:ext cx="15361463" cy="434340"/>
          </a:xfrm>
          <a:prstGeom prst="rect">
            <a:avLst/>
          </a:prstGeom>
        </p:spPr>
        <p:txBody>
          <a:bodyPr lIns="0" tIns="0" rIns="0" bIns="0" rtlCol="0" anchor="t">
            <a:spAutoFit/>
          </a:bodyPr>
          <a:lstStyle/>
          <a:p>
            <a:pPr algn="l">
              <a:lnSpc>
                <a:spcPts val="2160"/>
              </a:lnSpc>
            </a:pPr>
            <a:r>
              <a:rPr lang="en-US" sz="1800" b="1">
                <a:solidFill>
                  <a:srgbClr val="5E7CE2"/>
                </a:solidFill>
                <a:latin typeface="Calibri (MS) Bold"/>
                <a:ea typeface="Calibri (MS) Bold"/>
                <a:cs typeface="Calibri (MS) Bold"/>
                <a:sym typeface="Calibri (MS) Bold"/>
              </a:rPr>
              <a:t>🎨 Flutter Framework</a:t>
            </a:r>
          </a:p>
        </p:txBody>
      </p:sp>
      <p:sp>
        <p:nvSpPr>
          <p:cNvPr id="8" name="TextBox 8"/>
          <p:cNvSpPr txBox="1"/>
          <p:nvPr/>
        </p:nvSpPr>
        <p:spPr>
          <a:xfrm>
            <a:off x="1462078" y="2523887"/>
            <a:ext cx="15361463" cy="611505"/>
          </a:xfrm>
          <a:prstGeom prst="rect">
            <a:avLst/>
          </a:prstGeom>
        </p:spPr>
        <p:txBody>
          <a:bodyPr lIns="0" tIns="0" rIns="0" bIns="0" rtlCol="0" anchor="t">
            <a:spAutoFit/>
          </a:bodyPr>
          <a:lstStyle/>
          <a:p>
            <a:pPr algn="l">
              <a:lnSpc>
                <a:spcPts val="2160"/>
              </a:lnSpc>
            </a:pPr>
            <a:r>
              <a:rPr lang="en-US" sz="1500">
                <a:solidFill>
                  <a:srgbClr val="000000"/>
                </a:solidFill>
                <a:latin typeface="Segoe UI"/>
                <a:ea typeface="Segoe UI"/>
                <a:cs typeface="Segoe UI"/>
                <a:sym typeface="Segoe UI"/>
              </a:rPr>
              <a:t>Provides reusable UI widgets, manages layouts, handles user events, enables cross-platform compilation</a:t>
            </a:r>
          </a:p>
        </p:txBody>
      </p:sp>
      <p:grpSp>
        <p:nvGrpSpPr>
          <p:cNvPr id="9" name="Group 9"/>
          <p:cNvGrpSpPr/>
          <p:nvPr/>
        </p:nvGrpSpPr>
        <p:grpSpPr>
          <a:xfrm>
            <a:off x="1072505" y="3497151"/>
            <a:ext cx="16140589" cy="1419225"/>
            <a:chOff x="0" y="0"/>
            <a:chExt cx="21520785" cy="1892300"/>
          </a:xfrm>
        </p:grpSpPr>
        <p:sp>
          <p:nvSpPr>
            <p:cNvPr id="10" name="Freeform 10"/>
            <p:cNvSpPr/>
            <p:nvPr/>
          </p:nvSpPr>
          <p:spPr>
            <a:xfrm>
              <a:off x="0" y="0"/>
              <a:ext cx="21520786" cy="1892300"/>
            </a:xfrm>
            <a:custGeom>
              <a:avLst/>
              <a:gdLst/>
              <a:ahLst/>
              <a:cxnLst/>
              <a:rect l="l" t="t" r="r" b="b"/>
              <a:pathLst>
                <a:path w="21520786" h="1892300">
                  <a:moveTo>
                    <a:pt x="0" y="0"/>
                  </a:moveTo>
                  <a:lnTo>
                    <a:pt x="21520786" y="0"/>
                  </a:lnTo>
                  <a:lnTo>
                    <a:pt x="21520786" y="1892300"/>
                  </a:lnTo>
                  <a:lnTo>
                    <a:pt x="0" y="1892300"/>
                  </a:lnTo>
                  <a:close/>
                </a:path>
              </a:pathLst>
            </a:custGeom>
            <a:solidFill>
              <a:srgbClr val="FFFFFF"/>
            </a:solidFill>
            <a:ln w="19050" cap="sq">
              <a:solidFill>
                <a:srgbClr val="E2E8F0"/>
              </a:solidFill>
              <a:prstDash val="solid"/>
              <a:miter/>
            </a:ln>
          </p:spPr>
        </p:sp>
      </p:grpSp>
      <p:sp>
        <p:nvSpPr>
          <p:cNvPr id="11" name="TextBox 11"/>
          <p:cNvSpPr txBox="1"/>
          <p:nvPr/>
        </p:nvSpPr>
        <p:spPr>
          <a:xfrm>
            <a:off x="1462078" y="3616976"/>
            <a:ext cx="15361463" cy="434340"/>
          </a:xfrm>
          <a:prstGeom prst="rect">
            <a:avLst/>
          </a:prstGeom>
        </p:spPr>
        <p:txBody>
          <a:bodyPr lIns="0" tIns="0" rIns="0" bIns="0" rtlCol="0" anchor="t">
            <a:spAutoFit/>
          </a:bodyPr>
          <a:lstStyle/>
          <a:p>
            <a:pPr algn="l">
              <a:lnSpc>
                <a:spcPts val="2160"/>
              </a:lnSpc>
            </a:pPr>
            <a:r>
              <a:rPr lang="en-US" sz="1800" b="1">
                <a:solidFill>
                  <a:srgbClr val="5E7CE2"/>
                </a:solidFill>
                <a:latin typeface="Calibri (MS) Bold"/>
                <a:ea typeface="Calibri (MS) Bold"/>
                <a:cs typeface="Calibri (MS) Bold"/>
                <a:sym typeface="Calibri (MS) Bold"/>
              </a:rPr>
              <a:t>⚙️ Dart Language</a:t>
            </a:r>
          </a:p>
        </p:txBody>
      </p:sp>
      <p:sp>
        <p:nvSpPr>
          <p:cNvPr id="12" name="TextBox 12"/>
          <p:cNvSpPr txBox="1"/>
          <p:nvPr/>
        </p:nvSpPr>
        <p:spPr>
          <a:xfrm>
            <a:off x="1462078" y="4139327"/>
            <a:ext cx="15361463" cy="611505"/>
          </a:xfrm>
          <a:prstGeom prst="rect">
            <a:avLst/>
          </a:prstGeom>
        </p:spPr>
        <p:txBody>
          <a:bodyPr lIns="0" tIns="0" rIns="0" bIns="0" rtlCol="0" anchor="t">
            <a:spAutoFit/>
          </a:bodyPr>
          <a:lstStyle/>
          <a:p>
            <a:pPr algn="l">
              <a:lnSpc>
                <a:spcPts val="2160"/>
              </a:lnSpc>
            </a:pPr>
            <a:r>
              <a:rPr lang="en-US" sz="1500">
                <a:solidFill>
                  <a:srgbClr val="000000"/>
                </a:solidFill>
                <a:latin typeface="Segoe UI"/>
                <a:ea typeface="Segoe UI"/>
                <a:cs typeface="Segoe UI"/>
                <a:sym typeface="Segoe UI"/>
              </a:rPr>
              <a:t>Statically typed, supports variables, functions, classes, conditional logic, object-oriented programming</a:t>
            </a:r>
          </a:p>
        </p:txBody>
      </p:sp>
      <p:grpSp>
        <p:nvGrpSpPr>
          <p:cNvPr id="13" name="Group 13"/>
          <p:cNvGrpSpPr/>
          <p:nvPr/>
        </p:nvGrpSpPr>
        <p:grpSpPr>
          <a:xfrm>
            <a:off x="1074887" y="5116401"/>
            <a:ext cx="16140589" cy="1419225"/>
            <a:chOff x="0" y="0"/>
            <a:chExt cx="21520785" cy="1892300"/>
          </a:xfrm>
        </p:grpSpPr>
        <p:sp>
          <p:nvSpPr>
            <p:cNvPr id="14" name="Freeform 14"/>
            <p:cNvSpPr/>
            <p:nvPr/>
          </p:nvSpPr>
          <p:spPr>
            <a:xfrm>
              <a:off x="0" y="0"/>
              <a:ext cx="21520786" cy="1892300"/>
            </a:xfrm>
            <a:custGeom>
              <a:avLst/>
              <a:gdLst/>
              <a:ahLst/>
              <a:cxnLst/>
              <a:rect l="l" t="t" r="r" b="b"/>
              <a:pathLst>
                <a:path w="21520786" h="1892300">
                  <a:moveTo>
                    <a:pt x="0" y="0"/>
                  </a:moveTo>
                  <a:lnTo>
                    <a:pt x="21520786" y="0"/>
                  </a:lnTo>
                  <a:lnTo>
                    <a:pt x="21520786" y="1892300"/>
                  </a:lnTo>
                  <a:lnTo>
                    <a:pt x="0" y="1892300"/>
                  </a:lnTo>
                  <a:close/>
                </a:path>
              </a:pathLst>
            </a:custGeom>
            <a:solidFill>
              <a:srgbClr val="FFFFFF"/>
            </a:solidFill>
            <a:ln w="19050" cap="sq">
              <a:solidFill>
                <a:srgbClr val="E2E8F0"/>
              </a:solidFill>
              <a:prstDash val="solid"/>
              <a:miter/>
            </a:ln>
          </p:spPr>
        </p:sp>
      </p:grpSp>
      <p:sp>
        <p:nvSpPr>
          <p:cNvPr id="15" name="TextBox 15"/>
          <p:cNvSpPr txBox="1"/>
          <p:nvPr/>
        </p:nvSpPr>
        <p:spPr>
          <a:xfrm>
            <a:off x="1464459" y="5236226"/>
            <a:ext cx="15361463" cy="434340"/>
          </a:xfrm>
          <a:prstGeom prst="rect">
            <a:avLst/>
          </a:prstGeom>
        </p:spPr>
        <p:txBody>
          <a:bodyPr lIns="0" tIns="0" rIns="0" bIns="0" rtlCol="0" anchor="t">
            <a:spAutoFit/>
          </a:bodyPr>
          <a:lstStyle/>
          <a:p>
            <a:pPr algn="l">
              <a:lnSpc>
                <a:spcPts val="2160"/>
              </a:lnSpc>
            </a:pPr>
            <a:r>
              <a:rPr lang="en-US" sz="1800" b="1">
                <a:solidFill>
                  <a:srgbClr val="5E7CE2"/>
                </a:solidFill>
                <a:latin typeface="Calibri (MS) Bold"/>
                <a:ea typeface="Calibri (MS) Bold"/>
                <a:cs typeface="Calibri (MS) Bold"/>
                <a:sym typeface="Calibri (MS) Bold"/>
              </a:rPr>
              <a:t>🔘 Button Widgets</a:t>
            </a:r>
          </a:p>
        </p:txBody>
      </p:sp>
      <p:sp>
        <p:nvSpPr>
          <p:cNvPr id="16" name="TextBox 16"/>
          <p:cNvSpPr txBox="1"/>
          <p:nvPr/>
        </p:nvSpPr>
        <p:spPr>
          <a:xfrm>
            <a:off x="1464459" y="5758577"/>
            <a:ext cx="15361463" cy="611505"/>
          </a:xfrm>
          <a:prstGeom prst="rect">
            <a:avLst/>
          </a:prstGeom>
        </p:spPr>
        <p:txBody>
          <a:bodyPr lIns="0" tIns="0" rIns="0" bIns="0" rtlCol="0" anchor="t">
            <a:spAutoFit/>
          </a:bodyPr>
          <a:lstStyle/>
          <a:p>
            <a:pPr algn="l">
              <a:lnSpc>
                <a:spcPts val="2160"/>
              </a:lnSpc>
            </a:pPr>
            <a:r>
              <a:rPr lang="en-US" sz="1500">
                <a:solidFill>
                  <a:srgbClr val="000000"/>
                </a:solidFill>
                <a:latin typeface="Segoe UI"/>
                <a:ea typeface="Segoe UI"/>
                <a:cs typeface="Segoe UI"/>
                <a:sym typeface="Segoe UI"/>
              </a:rPr>
              <a:t>ElevatedButton captures user taps, executes callback functions, updates application state</a:t>
            </a:r>
          </a:p>
        </p:txBody>
      </p:sp>
      <p:grpSp>
        <p:nvGrpSpPr>
          <p:cNvPr id="17" name="Group 17"/>
          <p:cNvGrpSpPr/>
          <p:nvPr/>
        </p:nvGrpSpPr>
        <p:grpSpPr>
          <a:xfrm>
            <a:off x="1074887" y="6735651"/>
            <a:ext cx="16140589" cy="1419225"/>
            <a:chOff x="0" y="0"/>
            <a:chExt cx="21520785" cy="1892300"/>
          </a:xfrm>
        </p:grpSpPr>
        <p:sp>
          <p:nvSpPr>
            <p:cNvPr id="18" name="Freeform 18"/>
            <p:cNvSpPr/>
            <p:nvPr/>
          </p:nvSpPr>
          <p:spPr>
            <a:xfrm>
              <a:off x="0" y="0"/>
              <a:ext cx="21520786" cy="1892300"/>
            </a:xfrm>
            <a:custGeom>
              <a:avLst/>
              <a:gdLst/>
              <a:ahLst/>
              <a:cxnLst/>
              <a:rect l="l" t="t" r="r" b="b"/>
              <a:pathLst>
                <a:path w="21520786" h="1892300">
                  <a:moveTo>
                    <a:pt x="0" y="0"/>
                  </a:moveTo>
                  <a:lnTo>
                    <a:pt x="21520786" y="0"/>
                  </a:lnTo>
                  <a:lnTo>
                    <a:pt x="21520786" y="1892300"/>
                  </a:lnTo>
                  <a:lnTo>
                    <a:pt x="0" y="1892300"/>
                  </a:lnTo>
                  <a:close/>
                </a:path>
              </a:pathLst>
            </a:custGeom>
            <a:solidFill>
              <a:srgbClr val="FFFFFF"/>
            </a:solidFill>
            <a:ln w="19050" cap="sq">
              <a:solidFill>
                <a:srgbClr val="E2E8F0"/>
              </a:solidFill>
              <a:prstDash val="solid"/>
              <a:miter/>
            </a:ln>
          </p:spPr>
        </p:sp>
      </p:grpSp>
      <p:sp>
        <p:nvSpPr>
          <p:cNvPr id="19" name="TextBox 19"/>
          <p:cNvSpPr txBox="1"/>
          <p:nvPr/>
        </p:nvSpPr>
        <p:spPr>
          <a:xfrm>
            <a:off x="1464459" y="6855476"/>
            <a:ext cx="15361463" cy="434340"/>
          </a:xfrm>
          <a:prstGeom prst="rect">
            <a:avLst/>
          </a:prstGeom>
        </p:spPr>
        <p:txBody>
          <a:bodyPr lIns="0" tIns="0" rIns="0" bIns="0" rtlCol="0" anchor="t">
            <a:spAutoFit/>
          </a:bodyPr>
          <a:lstStyle/>
          <a:p>
            <a:pPr algn="l">
              <a:lnSpc>
                <a:spcPts val="2160"/>
              </a:lnSpc>
            </a:pPr>
            <a:r>
              <a:rPr lang="en-US" sz="1800" b="1">
                <a:solidFill>
                  <a:srgbClr val="5E7CE2"/>
                </a:solidFill>
                <a:latin typeface="Calibri (MS) Bold"/>
                <a:ea typeface="Calibri (MS) Bold"/>
                <a:cs typeface="Calibri (MS) Bold"/>
                <a:sym typeface="Calibri (MS) Bold"/>
              </a:rPr>
              <a:t>🔄 State Management</a:t>
            </a:r>
          </a:p>
        </p:txBody>
      </p:sp>
      <p:sp>
        <p:nvSpPr>
          <p:cNvPr id="20" name="TextBox 20"/>
          <p:cNvSpPr txBox="1"/>
          <p:nvPr/>
        </p:nvSpPr>
        <p:spPr>
          <a:xfrm>
            <a:off x="1464459" y="7377827"/>
            <a:ext cx="15361463" cy="611505"/>
          </a:xfrm>
          <a:prstGeom prst="rect">
            <a:avLst/>
          </a:prstGeom>
        </p:spPr>
        <p:txBody>
          <a:bodyPr lIns="0" tIns="0" rIns="0" bIns="0" rtlCol="0" anchor="t">
            <a:spAutoFit/>
          </a:bodyPr>
          <a:lstStyle/>
          <a:p>
            <a:pPr algn="l">
              <a:lnSpc>
                <a:spcPts val="2160"/>
              </a:lnSpc>
            </a:pPr>
            <a:r>
              <a:rPr lang="en-US" sz="1500">
                <a:solidFill>
                  <a:srgbClr val="000000"/>
                </a:solidFill>
                <a:latin typeface="Segoe UI"/>
                <a:ea typeface="Segoe UI"/>
                <a:cs typeface="Segoe UI"/>
                <a:sym typeface="Segoe UI"/>
              </a:rPr>
              <a:t>setState() notifies Flutter framework of data changes, triggers widget rebuild with new values</a:t>
            </a:r>
          </a:p>
        </p:txBody>
      </p:sp>
      <p:sp>
        <p:nvSpPr>
          <p:cNvPr id="21" name="TextBox 21"/>
          <p:cNvSpPr txBox="1"/>
          <p:nvPr/>
        </p:nvSpPr>
        <p:spPr>
          <a:xfrm>
            <a:off x="1090136" y="8465820"/>
            <a:ext cx="15910103" cy="251460"/>
          </a:xfrm>
          <a:prstGeom prst="rect">
            <a:avLst/>
          </a:prstGeom>
        </p:spPr>
        <p:txBody>
          <a:bodyPr lIns="0" tIns="0" rIns="0" bIns="0" rtlCol="0" anchor="t">
            <a:spAutoFit/>
          </a:bodyPr>
          <a:lstStyle/>
          <a:p>
            <a:pPr algn="l">
              <a:lnSpc>
                <a:spcPts val="2160"/>
              </a:lnSpc>
            </a:pPr>
            <a:r>
              <a:rPr lang="en-US" sz="1800" b="1">
                <a:solidFill>
                  <a:srgbClr val="5E7CE2"/>
                </a:solidFill>
                <a:latin typeface="Segoe UI Bold"/>
                <a:ea typeface="Segoe UI Bold"/>
                <a:cs typeface="Segoe UI Bold"/>
                <a:sym typeface="Segoe UI Bold"/>
              </a:rPr>
              <a:t>Core Dart Concepts Used:</a:t>
            </a:r>
          </a:p>
        </p:txBody>
      </p:sp>
      <p:sp>
        <p:nvSpPr>
          <p:cNvPr id="22" name="TextBox 22"/>
          <p:cNvSpPr txBox="1"/>
          <p:nvPr/>
        </p:nvSpPr>
        <p:spPr>
          <a:xfrm>
            <a:off x="1090136" y="8860155"/>
            <a:ext cx="15910103" cy="542925"/>
          </a:xfrm>
          <a:prstGeom prst="rect">
            <a:avLst/>
          </a:prstGeom>
        </p:spPr>
        <p:txBody>
          <a:bodyPr lIns="0" tIns="0" rIns="0" bIns="0" rtlCol="0" anchor="t">
            <a:spAutoFit/>
          </a:bodyPr>
          <a:lstStyle/>
          <a:p>
            <a:pPr algn="l">
              <a:lnSpc>
                <a:spcPts val="2160"/>
              </a:lnSpc>
            </a:pPr>
            <a:r>
              <a:rPr lang="en-US" sz="1500">
                <a:solidFill>
                  <a:srgbClr val="000000"/>
                </a:solidFill>
                <a:latin typeface="Segoe UI"/>
                <a:ea typeface="Segoe UI"/>
                <a:cs typeface="Segoe UI"/>
                <a:sym typeface="Segoe UI"/>
              </a:rPr>
              <a:t>Variables (store display text &amp; numbers)  •  Data Types (double, String, bool)  •  Operators (arithmetic: +, −, *, /)  •  Functions (process button taps)  •  Conditionals (if/else for operations)  •  setState() (update display)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2"/>
          <p:cNvSpPr txBox="1"/>
          <p:nvPr/>
        </p:nvSpPr>
        <p:spPr>
          <a:xfrm>
            <a:off x="1188720" y="594360"/>
            <a:ext cx="15910103" cy="731520"/>
          </a:xfrm>
          <a:prstGeom prst="rect">
            <a:avLst/>
          </a:prstGeom>
        </p:spPr>
        <p:txBody>
          <a:bodyPr lIns="0" tIns="0" rIns="0" bIns="0" rtlCol="0" anchor="t">
            <a:spAutoFit/>
          </a:bodyPr>
          <a:lstStyle/>
          <a:p>
            <a:pPr algn="l">
              <a:lnSpc>
                <a:spcPts val="7920"/>
              </a:lnSpc>
            </a:pPr>
            <a:r>
              <a:rPr lang="en-US" sz="6600" b="1">
                <a:solidFill>
                  <a:srgbClr val="19202C"/>
                </a:solidFill>
                <a:latin typeface="Segoe UI Bold"/>
                <a:ea typeface="Segoe UI Bold"/>
                <a:cs typeface="Segoe UI Bold"/>
                <a:sym typeface="Segoe UI Bold"/>
              </a:rPr>
              <a:t>Calculator UI Design</a:t>
            </a:r>
          </a:p>
        </p:txBody>
      </p:sp>
      <p:grpSp>
        <p:nvGrpSpPr>
          <p:cNvPr id="3" name="Group 3"/>
          <p:cNvGrpSpPr/>
          <p:nvPr/>
        </p:nvGrpSpPr>
        <p:grpSpPr>
          <a:xfrm>
            <a:off x="1079421" y="1490901"/>
            <a:ext cx="2778966" cy="90630"/>
            <a:chOff x="0" y="0"/>
            <a:chExt cx="3705288" cy="120840"/>
          </a:xfrm>
        </p:grpSpPr>
        <p:sp>
          <p:nvSpPr>
            <p:cNvPr id="4" name="Freeform 4"/>
            <p:cNvSpPr/>
            <p:nvPr/>
          </p:nvSpPr>
          <p:spPr>
            <a:xfrm>
              <a:off x="0" y="0"/>
              <a:ext cx="3705225" cy="120777"/>
            </a:xfrm>
            <a:custGeom>
              <a:avLst/>
              <a:gdLst/>
              <a:ahLst/>
              <a:cxnLst/>
              <a:rect l="l" t="t" r="r" b="b"/>
              <a:pathLst>
                <a:path w="3705225" h="120777">
                  <a:moveTo>
                    <a:pt x="0" y="0"/>
                  </a:moveTo>
                  <a:lnTo>
                    <a:pt x="3705225" y="0"/>
                  </a:lnTo>
                  <a:lnTo>
                    <a:pt x="3705225" y="120777"/>
                  </a:lnTo>
                  <a:lnTo>
                    <a:pt x="0" y="120777"/>
                  </a:lnTo>
                  <a:close/>
                </a:path>
              </a:pathLst>
            </a:custGeom>
            <a:solidFill>
              <a:srgbClr val="5E7CE2"/>
            </a:solidFill>
            <a:ln w="14288" cap="sq">
              <a:solidFill>
                <a:srgbClr val="5E7CE2"/>
              </a:solidFill>
              <a:prstDash val="solid"/>
              <a:miter/>
            </a:ln>
          </p:spPr>
        </p:sp>
      </p:grpSp>
      <p:sp>
        <p:nvSpPr>
          <p:cNvPr id="5" name="TextBox 5"/>
          <p:cNvSpPr txBox="1"/>
          <p:nvPr/>
        </p:nvSpPr>
        <p:spPr>
          <a:xfrm>
            <a:off x="8187880" y="1920240"/>
            <a:ext cx="7731443" cy="399088"/>
          </a:xfrm>
          <a:prstGeom prst="rect">
            <a:avLst/>
          </a:prstGeom>
        </p:spPr>
        <p:txBody>
          <a:bodyPr lIns="0" tIns="0" rIns="0" bIns="0" rtlCol="0" anchor="t">
            <a:spAutoFit/>
          </a:bodyPr>
          <a:lstStyle/>
          <a:p>
            <a:pPr algn="l">
              <a:lnSpc>
                <a:spcPts val="3161"/>
              </a:lnSpc>
            </a:pPr>
            <a:r>
              <a:rPr lang="en-US" sz="2633" b="1">
                <a:solidFill>
                  <a:srgbClr val="5E7CE2"/>
                </a:solidFill>
                <a:latin typeface="Segoe UI Bold"/>
                <a:ea typeface="Segoe UI Bold"/>
                <a:cs typeface="Segoe UI Bold"/>
                <a:sym typeface="Segoe UI Bold"/>
              </a:rPr>
              <a:t>Interface Components</a:t>
            </a:r>
          </a:p>
        </p:txBody>
      </p:sp>
      <p:sp>
        <p:nvSpPr>
          <p:cNvPr id="6" name="TextBox 6"/>
          <p:cNvSpPr txBox="1"/>
          <p:nvPr/>
        </p:nvSpPr>
        <p:spPr>
          <a:xfrm>
            <a:off x="8187880" y="2754468"/>
            <a:ext cx="7731443" cy="308972"/>
          </a:xfrm>
          <a:prstGeom prst="rect">
            <a:avLst/>
          </a:prstGeom>
        </p:spPr>
        <p:txBody>
          <a:bodyPr lIns="0" tIns="0" rIns="0" bIns="0" rtlCol="0" anchor="t">
            <a:spAutoFit/>
          </a:bodyPr>
          <a:lstStyle/>
          <a:p>
            <a:pPr algn="l">
              <a:lnSpc>
                <a:spcPts val="2431"/>
              </a:lnSpc>
            </a:pPr>
            <a:r>
              <a:rPr lang="en-US" sz="2027" b="1">
                <a:solidFill>
                  <a:srgbClr val="19202C"/>
                </a:solidFill>
                <a:latin typeface="Segoe UI Bold"/>
                <a:ea typeface="Segoe UI Bold"/>
                <a:cs typeface="Segoe UI Bold"/>
                <a:sym typeface="Segoe UI Bold"/>
              </a:rPr>
              <a:t>• Display Area</a:t>
            </a:r>
          </a:p>
        </p:txBody>
      </p:sp>
      <p:sp>
        <p:nvSpPr>
          <p:cNvPr id="7" name="TextBox 7"/>
          <p:cNvSpPr txBox="1"/>
          <p:nvPr/>
        </p:nvSpPr>
        <p:spPr>
          <a:xfrm>
            <a:off x="8510045" y="3217926"/>
            <a:ext cx="7373855" cy="270348"/>
          </a:xfrm>
          <a:prstGeom prst="rect">
            <a:avLst/>
          </a:prstGeom>
        </p:spPr>
        <p:txBody>
          <a:bodyPr lIns="0" tIns="0" rIns="0" bIns="0" rtlCol="0" anchor="t">
            <a:spAutoFit/>
          </a:bodyPr>
          <a:lstStyle/>
          <a:p>
            <a:pPr algn="l">
              <a:lnSpc>
                <a:spcPts val="2189"/>
              </a:lnSpc>
            </a:pPr>
            <a:r>
              <a:rPr lang="en-US" sz="1824">
                <a:solidFill>
                  <a:srgbClr val="000000"/>
                </a:solidFill>
                <a:latin typeface="Segoe UI"/>
                <a:ea typeface="Segoe UI"/>
                <a:cs typeface="Segoe UI"/>
                <a:sym typeface="Segoe UI"/>
              </a:rPr>
              <a:t>Large text widget showing entered numbers and results, with a status line (Ready / Operation) below</a:t>
            </a:r>
          </a:p>
        </p:txBody>
      </p:sp>
      <p:sp>
        <p:nvSpPr>
          <p:cNvPr id="8" name="TextBox 8"/>
          <p:cNvSpPr txBox="1"/>
          <p:nvPr/>
        </p:nvSpPr>
        <p:spPr>
          <a:xfrm>
            <a:off x="8187880" y="3959457"/>
            <a:ext cx="7731443" cy="308972"/>
          </a:xfrm>
          <a:prstGeom prst="rect">
            <a:avLst/>
          </a:prstGeom>
        </p:spPr>
        <p:txBody>
          <a:bodyPr lIns="0" tIns="0" rIns="0" bIns="0" rtlCol="0" anchor="t">
            <a:spAutoFit/>
          </a:bodyPr>
          <a:lstStyle/>
          <a:p>
            <a:pPr algn="l">
              <a:lnSpc>
                <a:spcPts val="2431"/>
              </a:lnSpc>
            </a:pPr>
            <a:r>
              <a:rPr lang="en-US" sz="2027" b="1">
                <a:solidFill>
                  <a:srgbClr val="19202C"/>
                </a:solidFill>
                <a:latin typeface="Segoe UI Bold"/>
                <a:ea typeface="Segoe UI Bold"/>
                <a:cs typeface="Segoe UI Bold"/>
                <a:sym typeface="Segoe UI Bold"/>
              </a:rPr>
              <a:t>• Number Buttons</a:t>
            </a:r>
          </a:p>
        </p:txBody>
      </p:sp>
      <p:sp>
        <p:nvSpPr>
          <p:cNvPr id="9" name="TextBox 9"/>
          <p:cNvSpPr txBox="1"/>
          <p:nvPr/>
        </p:nvSpPr>
        <p:spPr>
          <a:xfrm>
            <a:off x="8510045" y="4422915"/>
            <a:ext cx="7373855" cy="270348"/>
          </a:xfrm>
          <a:prstGeom prst="rect">
            <a:avLst/>
          </a:prstGeom>
        </p:spPr>
        <p:txBody>
          <a:bodyPr lIns="0" tIns="0" rIns="0" bIns="0" rtlCol="0" anchor="t">
            <a:spAutoFit/>
          </a:bodyPr>
          <a:lstStyle/>
          <a:p>
            <a:pPr algn="l">
              <a:lnSpc>
                <a:spcPts val="2189"/>
              </a:lnSpc>
            </a:pPr>
            <a:r>
              <a:rPr lang="en-US" sz="1824">
                <a:solidFill>
                  <a:srgbClr val="000000"/>
                </a:solidFill>
                <a:latin typeface="Segoe UI"/>
                <a:ea typeface="Segoe UI"/>
                <a:cs typeface="Segoe UI"/>
                <a:sym typeface="Segoe UI"/>
              </a:rPr>
              <a:t>Buttons 0-9: rows 7-8-9, 4-5-6, 1-2-3, plus a double-width 0 button</a:t>
            </a:r>
          </a:p>
        </p:txBody>
      </p:sp>
      <p:sp>
        <p:nvSpPr>
          <p:cNvPr id="10" name="TextBox 10"/>
          <p:cNvSpPr txBox="1"/>
          <p:nvPr/>
        </p:nvSpPr>
        <p:spPr>
          <a:xfrm>
            <a:off x="8187880" y="5164445"/>
            <a:ext cx="7731443" cy="308972"/>
          </a:xfrm>
          <a:prstGeom prst="rect">
            <a:avLst/>
          </a:prstGeom>
        </p:spPr>
        <p:txBody>
          <a:bodyPr lIns="0" tIns="0" rIns="0" bIns="0" rtlCol="0" anchor="t">
            <a:spAutoFit/>
          </a:bodyPr>
          <a:lstStyle/>
          <a:p>
            <a:pPr algn="l">
              <a:lnSpc>
                <a:spcPts val="2431"/>
              </a:lnSpc>
            </a:pPr>
            <a:r>
              <a:rPr lang="en-US" sz="2027" b="1">
                <a:solidFill>
                  <a:srgbClr val="19202C"/>
                </a:solidFill>
                <a:latin typeface="Segoe UI Bold"/>
                <a:ea typeface="Segoe UI Bold"/>
                <a:cs typeface="Segoe UI Bold"/>
                <a:sym typeface="Segoe UI Bold"/>
              </a:rPr>
              <a:t>• Operator Buttons</a:t>
            </a:r>
          </a:p>
        </p:txBody>
      </p:sp>
      <p:sp>
        <p:nvSpPr>
          <p:cNvPr id="11" name="TextBox 11"/>
          <p:cNvSpPr txBox="1"/>
          <p:nvPr/>
        </p:nvSpPr>
        <p:spPr>
          <a:xfrm>
            <a:off x="8510045" y="5627903"/>
            <a:ext cx="7373855" cy="270348"/>
          </a:xfrm>
          <a:prstGeom prst="rect">
            <a:avLst/>
          </a:prstGeom>
        </p:spPr>
        <p:txBody>
          <a:bodyPr lIns="0" tIns="0" rIns="0" bIns="0" rtlCol="0" anchor="t">
            <a:spAutoFit/>
          </a:bodyPr>
          <a:lstStyle/>
          <a:p>
            <a:pPr algn="l">
              <a:lnSpc>
                <a:spcPts val="2189"/>
              </a:lnSpc>
            </a:pPr>
            <a:r>
              <a:rPr lang="en-US" sz="1824">
                <a:solidFill>
                  <a:srgbClr val="000000"/>
                </a:solidFill>
                <a:latin typeface="Segoe UI"/>
                <a:ea typeface="Segoe UI"/>
                <a:cs typeface="Segoe UI"/>
                <a:sym typeface="Segoe UI"/>
              </a:rPr>
              <a:t>Four buttons: + (plus), − (minus), × (multiply), ÷ (divide)</a:t>
            </a:r>
          </a:p>
        </p:txBody>
      </p:sp>
      <p:sp>
        <p:nvSpPr>
          <p:cNvPr id="12" name="TextBox 12"/>
          <p:cNvSpPr txBox="1"/>
          <p:nvPr/>
        </p:nvSpPr>
        <p:spPr>
          <a:xfrm>
            <a:off x="8187880" y="6369434"/>
            <a:ext cx="7731443" cy="308972"/>
          </a:xfrm>
          <a:prstGeom prst="rect">
            <a:avLst/>
          </a:prstGeom>
        </p:spPr>
        <p:txBody>
          <a:bodyPr lIns="0" tIns="0" rIns="0" bIns="0" rtlCol="0" anchor="t">
            <a:spAutoFit/>
          </a:bodyPr>
          <a:lstStyle/>
          <a:p>
            <a:pPr algn="l">
              <a:lnSpc>
                <a:spcPts val="2431"/>
              </a:lnSpc>
            </a:pPr>
            <a:r>
              <a:rPr lang="en-US" sz="2027" b="1">
                <a:solidFill>
                  <a:srgbClr val="19202C"/>
                </a:solidFill>
                <a:latin typeface="Segoe UI Bold"/>
                <a:ea typeface="Segoe UI Bold"/>
                <a:cs typeface="Segoe UI Bold"/>
                <a:sym typeface="Segoe UI Bold"/>
              </a:rPr>
              <a:t>• Utility Buttons</a:t>
            </a:r>
          </a:p>
        </p:txBody>
      </p:sp>
      <p:sp>
        <p:nvSpPr>
          <p:cNvPr id="13" name="TextBox 13"/>
          <p:cNvSpPr txBox="1"/>
          <p:nvPr/>
        </p:nvSpPr>
        <p:spPr>
          <a:xfrm>
            <a:off x="8510045" y="6832892"/>
            <a:ext cx="7373855" cy="270348"/>
          </a:xfrm>
          <a:prstGeom prst="rect">
            <a:avLst/>
          </a:prstGeom>
        </p:spPr>
        <p:txBody>
          <a:bodyPr lIns="0" tIns="0" rIns="0" bIns="0" rtlCol="0" anchor="t">
            <a:spAutoFit/>
          </a:bodyPr>
          <a:lstStyle/>
          <a:p>
            <a:pPr algn="l">
              <a:lnSpc>
                <a:spcPts val="2189"/>
              </a:lnSpc>
            </a:pPr>
            <a:r>
              <a:rPr lang="en-US" sz="1824">
                <a:solidFill>
                  <a:srgbClr val="000000"/>
                </a:solidFill>
                <a:latin typeface="Segoe UI"/>
                <a:ea typeface="Segoe UI"/>
                <a:cs typeface="Segoe UI"/>
                <a:sym typeface="Segoe UI"/>
              </a:rPr>
              <a:t>AC (clear), ⌫ (backspace), = (equals), . (decimal point), % (percent)</a:t>
            </a:r>
          </a:p>
        </p:txBody>
      </p:sp>
      <p:sp>
        <p:nvSpPr>
          <p:cNvPr id="14" name="TextBox 14"/>
          <p:cNvSpPr txBox="1"/>
          <p:nvPr/>
        </p:nvSpPr>
        <p:spPr>
          <a:xfrm>
            <a:off x="8187880" y="7574432"/>
            <a:ext cx="7731443" cy="308972"/>
          </a:xfrm>
          <a:prstGeom prst="rect">
            <a:avLst/>
          </a:prstGeom>
        </p:spPr>
        <p:txBody>
          <a:bodyPr lIns="0" tIns="0" rIns="0" bIns="0" rtlCol="0" anchor="t">
            <a:spAutoFit/>
          </a:bodyPr>
          <a:lstStyle/>
          <a:p>
            <a:pPr algn="l">
              <a:lnSpc>
                <a:spcPts val="2431"/>
              </a:lnSpc>
            </a:pPr>
            <a:r>
              <a:rPr lang="en-US" sz="2027" b="1">
                <a:solidFill>
                  <a:srgbClr val="19202C"/>
                </a:solidFill>
                <a:latin typeface="Segoe UI Bold"/>
                <a:ea typeface="Segoe UI Bold"/>
                <a:cs typeface="Segoe UI Bold"/>
                <a:sym typeface="Segoe UI Bold"/>
              </a:rPr>
              <a:t>• Color Scheme</a:t>
            </a:r>
          </a:p>
        </p:txBody>
      </p:sp>
      <p:sp>
        <p:nvSpPr>
          <p:cNvPr id="15" name="TextBox 15"/>
          <p:cNvSpPr txBox="1"/>
          <p:nvPr/>
        </p:nvSpPr>
        <p:spPr>
          <a:xfrm>
            <a:off x="8510045" y="8037890"/>
            <a:ext cx="7373855" cy="270348"/>
          </a:xfrm>
          <a:prstGeom prst="rect">
            <a:avLst/>
          </a:prstGeom>
        </p:spPr>
        <p:txBody>
          <a:bodyPr lIns="0" tIns="0" rIns="0" bIns="0" rtlCol="0" anchor="t">
            <a:spAutoFit/>
          </a:bodyPr>
          <a:lstStyle/>
          <a:p>
            <a:pPr algn="l">
              <a:lnSpc>
                <a:spcPts val="2189"/>
              </a:lnSpc>
            </a:pPr>
            <a:r>
              <a:rPr lang="en-US" sz="1824">
                <a:solidFill>
                  <a:srgbClr val="000000"/>
                </a:solidFill>
                <a:latin typeface="Segoe UI"/>
                <a:ea typeface="Segoe UI"/>
                <a:cs typeface="Segoe UI"/>
                <a:sym typeface="Segoe UI"/>
              </a:rPr>
              <a:t>Grey number keys, blue operators, red AC, orange ⌫, green =</a:t>
            </a:r>
          </a:p>
        </p:txBody>
      </p:sp>
      <p:sp>
        <p:nvSpPr>
          <p:cNvPr id="16" name="TextBox 16"/>
          <p:cNvSpPr txBox="1"/>
          <p:nvPr/>
        </p:nvSpPr>
        <p:spPr>
          <a:xfrm>
            <a:off x="8187880" y="8779421"/>
            <a:ext cx="7731443" cy="308972"/>
          </a:xfrm>
          <a:prstGeom prst="rect">
            <a:avLst/>
          </a:prstGeom>
        </p:spPr>
        <p:txBody>
          <a:bodyPr lIns="0" tIns="0" rIns="0" bIns="0" rtlCol="0" anchor="t">
            <a:spAutoFit/>
          </a:bodyPr>
          <a:lstStyle/>
          <a:p>
            <a:pPr algn="l">
              <a:lnSpc>
                <a:spcPts val="2431"/>
              </a:lnSpc>
            </a:pPr>
            <a:r>
              <a:rPr lang="en-US" sz="2027" b="1">
                <a:solidFill>
                  <a:srgbClr val="19202C"/>
                </a:solidFill>
                <a:latin typeface="Segoe UI Bold"/>
                <a:ea typeface="Segoe UI Bold"/>
                <a:cs typeface="Segoe UI Bold"/>
                <a:sym typeface="Segoe UI Bold"/>
              </a:rPr>
              <a:t>• Layout</a:t>
            </a:r>
          </a:p>
        </p:txBody>
      </p:sp>
      <p:sp>
        <p:nvSpPr>
          <p:cNvPr id="17" name="TextBox 17"/>
          <p:cNvSpPr txBox="1"/>
          <p:nvPr/>
        </p:nvSpPr>
        <p:spPr>
          <a:xfrm>
            <a:off x="8510045" y="9242879"/>
            <a:ext cx="7373855" cy="270348"/>
          </a:xfrm>
          <a:prstGeom prst="rect">
            <a:avLst/>
          </a:prstGeom>
        </p:spPr>
        <p:txBody>
          <a:bodyPr lIns="0" tIns="0" rIns="0" bIns="0" rtlCol="0" anchor="t">
            <a:spAutoFit/>
          </a:bodyPr>
          <a:lstStyle/>
          <a:p>
            <a:pPr algn="l">
              <a:lnSpc>
                <a:spcPts val="2189"/>
              </a:lnSpc>
            </a:pPr>
            <a:r>
              <a:rPr lang="en-US" sz="1824">
                <a:solidFill>
                  <a:srgbClr val="000000"/>
                </a:solidFill>
                <a:latin typeface="Segoe UI"/>
                <a:ea typeface="Segoe UI"/>
                <a:cs typeface="Segoe UI"/>
                <a:sym typeface="Segoe UI"/>
              </a:rPr>
              <a:t>Rows of Expanded buttons share the screen width equally</a:t>
            </a:r>
          </a:p>
        </p:txBody>
      </p:sp>
      <p:grpSp>
        <p:nvGrpSpPr>
          <p:cNvPr id="18" name="Group 18"/>
          <p:cNvGrpSpPr/>
          <p:nvPr/>
        </p:nvGrpSpPr>
        <p:grpSpPr>
          <a:xfrm>
            <a:off x="1417320" y="1920240"/>
            <a:ext cx="4007739" cy="7638669"/>
            <a:chOff x="0" y="0"/>
            <a:chExt cx="5343652" cy="10184892"/>
          </a:xfrm>
        </p:grpSpPr>
        <p:sp>
          <p:nvSpPr>
            <p:cNvPr id="19" name="Freeform 19"/>
            <p:cNvSpPr/>
            <p:nvPr/>
          </p:nvSpPr>
          <p:spPr>
            <a:xfrm>
              <a:off x="0" y="0"/>
              <a:ext cx="5343652" cy="10184892"/>
            </a:xfrm>
            <a:custGeom>
              <a:avLst/>
              <a:gdLst/>
              <a:ahLst/>
              <a:cxnLst/>
              <a:rect l="l" t="t" r="r" b="b"/>
              <a:pathLst>
                <a:path w="5343652" h="10184892">
                  <a:moveTo>
                    <a:pt x="0" y="0"/>
                  </a:moveTo>
                  <a:lnTo>
                    <a:pt x="5343652" y="0"/>
                  </a:lnTo>
                  <a:lnTo>
                    <a:pt x="5343652" y="10184892"/>
                  </a:lnTo>
                  <a:lnTo>
                    <a:pt x="0" y="10184892"/>
                  </a:lnTo>
                  <a:lnTo>
                    <a:pt x="0" y="0"/>
                  </a:lnTo>
                  <a:close/>
                </a:path>
              </a:pathLst>
            </a:custGeom>
            <a:blipFill>
              <a:blip r:embed="rId2"/>
              <a:stretch>
                <a:fillRect/>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2"/>
          <p:cNvSpPr txBox="1"/>
          <p:nvPr/>
        </p:nvSpPr>
        <p:spPr>
          <a:xfrm>
            <a:off x="1188720" y="594360"/>
            <a:ext cx="15910103" cy="731520"/>
          </a:xfrm>
          <a:prstGeom prst="rect">
            <a:avLst/>
          </a:prstGeom>
        </p:spPr>
        <p:txBody>
          <a:bodyPr lIns="0" tIns="0" rIns="0" bIns="0" rtlCol="0" anchor="t">
            <a:spAutoFit/>
          </a:bodyPr>
          <a:lstStyle/>
          <a:p>
            <a:pPr algn="l">
              <a:lnSpc>
                <a:spcPts val="7920"/>
              </a:lnSpc>
            </a:pPr>
            <a:r>
              <a:rPr lang="en-US" sz="6600" b="1">
                <a:solidFill>
                  <a:srgbClr val="19202C"/>
                </a:solidFill>
                <a:latin typeface="Segoe UI Bold"/>
                <a:ea typeface="Segoe UI Bold"/>
                <a:cs typeface="Segoe UI Bold"/>
                <a:sym typeface="Segoe UI Bold"/>
              </a:rPr>
              <a:t>Widget Hierarchy &amp; Architecture</a:t>
            </a:r>
          </a:p>
        </p:txBody>
      </p:sp>
      <p:grpSp>
        <p:nvGrpSpPr>
          <p:cNvPr id="3" name="Group 3"/>
          <p:cNvGrpSpPr/>
          <p:nvPr/>
        </p:nvGrpSpPr>
        <p:grpSpPr>
          <a:xfrm>
            <a:off x="1079421" y="1490901"/>
            <a:ext cx="4150566" cy="90630"/>
            <a:chOff x="0" y="0"/>
            <a:chExt cx="5534088" cy="120840"/>
          </a:xfrm>
        </p:grpSpPr>
        <p:sp>
          <p:nvSpPr>
            <p:cNvPr id="4" name="Freeform 4"/>
            <p:cNvSpPr/>
            <p:nvPr/>
          </p:nvSpPr>
          <p:spPr>
            <a:xfrm>
              <a:off x="0" y="0"/>
              <a:ext cx="5534025" cy="120777"/>
            </a:xfrm>
            <a:custGeom>
              <a:avLst/>
              <a:gdLst/>
              <a:ahLst/>
              <a:cxnLst/>
              <a:rect l="l" t="t" r="r" b="b"/>
              <a:pathLst>
                <a:path w="5534025" h="120777">
                  <a:moveTo>
                    <a:pt x="0" y="0"/>
                  </a:moveTo>
                  <a:lnTo>
                    <a:pt x="5534025" y="0"/>
                  </a:lnTo>
                  <a:lnTo>
                    <a:pt x="5534025" y="120777"/>
                  </a:lnTo>
                  <a:lnTo>
                    <a:pt x="0" y="120777"/>
                  </a:lnTo>
                  <a:close/>
                </a:path>
              </a:pathLst>
            </a:custGeom>
            <a:solidFill>
              <a:srgbClr val="5E7CE2"/>
            </a:solidFill>
            <a:ln w="14288" cap="sq">
              <a:solidFill>
                <a:srgbClr val="5E7CE2"/>
              </a:solidFill>
              <a:prstDash val="solid"/>
              <a:miter/>
            </a:ln>
          </p:spPr>
        </p:sp>
      </p:grpSp>
      <p:sp>
        <p:nvSpPr>
          <p:cNvPr id="5" name="TextBox 5"/>
          <p:cNvSpPr txBox="1"/>
          <p:nvPr/>
        </p:nvSpPr>
        <p:spPr>
          <a:xfrm>
            <a:off x="1188720" y="2053590"/>
            <a:ext cx="6775856" cy="516779"/>
          </a:xfrm>
          <a:prstGeom prst="rect">
            <a:avLst/>
          </a:prstGeom>
        </p:spPr>
        <p:txBody>
          <a:bodyPr lIns="0" tIns="0" rIns="0" bIns="0" rtlCol="0" anchor="t">
            <a:spAutoFit/>
          </a:bodyPr>
          <a:lstStyle/>
          <a:p>
            <a:pPr algn="l">
              <a:lnSpc>
                <a:spcPts val="4338"/>
              </a:lnSpc>
            </a:pPr>
            <a:r>
              <a:rPr lang="en-US" sz="3615" b="1">
                <a:solidFill>
                  <a:srgbClr val="5E7CE2"/>
                </a:solidFill>
                <a:latin typeface="Segoe UI Bold"/>
                <a:ea typeface="Segoe UI Bold"/>
                <a:cs typeface="Segoe UI Bold"/>
                <a:sym typeface="Segoe UI Bold"/>
              </a:rPr>
              <a:t>Widget Tree Structure</a:t>
            </a:r>
          </a:p>
        </p:txBody>
      </p:sp>
      <p:sp>
        <p:nvSpPr>
          <p:cNvPr id="6" name="TextBox 6"/>
          <p:cNvSpPr txBox="1"/>
          <p:nvPr/>
        </p:nvSpPr>
        <p:spPr>
          <a:xfrm>
            <a:off x="1188720" y="3246015"/>
            <a:ext cx="6775856" cy="4850997"/>
          </a:xfrm>
          <a:prstGeom prst="rect">
            <a:avLst/>
          </a:prstGeom>
        </p:spPr>
        <p:txBody>
          <a:bodyPr lIns="0" tIns="0" rIns="0" bIns="0" rtlCol="0" anchor="t">
            <a:spAutoFit/>
          </a:bodyPr>
          <a:lstStyle/>
          <a:p>
            <a:pPr algn="l">
              <a:lnSpc>
                <a:spcPts val="3253"/>
              </a:lnSpc>
            </a:pPr>
            <a:r>
              <a:rPr lang="en-US" sz="2711">
                <a:solidFill>
                  <a:srgbClr val="5E7CE2"/>
                </a:solidFill>
                <a:latin typeface="Courier New"/>
                <a:ea typeface="Courier New"/>
                <a:cs typeface="Courier New"/>
                <a:sym typeface="Courier New"/>
              </a:rPr>
              <a:t>Scaffold (AppBar + body)</a:t>
            </a:r>
          </a:p>
          <a:p>
            <a:pPr algn="l">
              <a:lnSpc>
                <a:spcPts val="3253"/>
              </a:lnSpc>
            </a:pPr>
            <a:r>
              <a:rPr lang="en-US" sz="2711">
                <a:solidFill>
                  <a:srgbClr val="5E7CE2"/>
                </a:solidFill>
                <a:latin typeface="Courier New"/>
                <a:ea typeface="Courier New"/>
                <a:cs typeface="Courier New"/>
                <a:sym typeface="Courier New"/>
              </a:rPr>
              <a:t>   ↓</a:t>
            </a:r>
          </a:p>
          <a:p>
            <a:pPr algn="l">
              <a:lnSpc>
                <a:spcPts val="3253"/>
              </a:lnSpc>
            </a:pPr>
            <a:r>
              <a:rPr lang="en-US" sz="2711">
                <a:solidFill>
                  <a:srgbClr val="5E7CE2"/>
                </a:solidFill>
                <a:latin typeface="Courier New"/>
                <a:ea typeface="Courier New"/>
                <a:cs typeface="Courier New"/>
                <a:sym typeface="Courier New"/>
              </a:rPr>
              <a:t>Column (vertical layout)</a:t>
            </a:r>
          </a:p>
          <a:p>
            <a:pPr algn="l">
              <a:lnSpc>
                <a:spcPts val="3253"/>
              </a:lnSpc>
            </a:pPr>
            <a:r>
              <a:rPr lang="en-US" sz="2711">
                <a:solidFill>
                  <a:srgbClr val="5E7CE2"/>
                </a:solidFill>
                <a:latin typeface="Courier New"/>
                <a:ea typeface="Courier New"/>
                <a:cs typeface="Courier New"/>
                <a:sym typeface="Courier New"/>
              </a:rPr>
              <a:t>   ├── Container (display area)</a:t>
            </a:r>
          </a:p>
          <a:p>
            <a:pPr algn="l">
              <a:lnSpc>
                <a:spcPts val="3253"/>
              </a:lnSpc>
            </a:pPr>
            <a:r>
              <a:rPr lang="en-US" sz="2711">
                <a:solidFill>
                  <a:srgbClr val="5E7CE2"/>
                </a:solidFill>
                <a:latin typeface="Courier New"/>
                <a:ea typeface="Courier New"/>
                <a:cs typeface="Courier New"/>
                <a:sym typeface="Courier New"/>
              </a:rPr>
              <a:t>   │   └── Text (display/status)</a:t>
            </a:r>
          </a:p>
          <a:p>
            <a:pPr algn="l">
              <a:lnSpc>
                <a:spcPts val="3253"/>
              </a:lnSpc>
            </a:pPr>
            <a:r>
              <a:rPr lang="en-US" sz="2711">
                <a:solidFill>
                  <a:srgbClr val="5E7CE2"/>
                </a:solidFill>
                <a:latin typeface="Courier New"/>
                <a:ea typeface="Courier New"/>
                <a:cs typeface="Courier New"/>
                <a:sym typeface="Courier New"/>
              </a:rPr>
              <a:t>   │</a:t>
            </a:r>
          </a:p>
          <a:p>
            <a:pPr algn="l">
              <a:lnSpc>
                <a:spcPts val="3253"/>
              </a:lnSpc>
            </a:pPr>
            <a:r>
              <a:rPr lang="en-US" sz="2711">
                <a:solidFill>
                  <a:srgbClr val="5E7CE2"/>
                </a:solidFill>
                <a:latin typeface="Courier New"/>
                <a:ea typeface="Courier New"/>
                <a:cs typeface="Courier New"/>
                <a:sym typeface="Courier New"/>
              </a:rPr>
              <a:t>   └── Expanded → Column</a:t>
            </a:r>
          </a:p>
          <a:p>
            <a:pPr algn="l">
              <a:lnSpc>
                <a:spcPts val="3253"/>
              </a:lnSpc>
            </a:pPr>
            <a:r>
              <a:rPr lang="en-US" sz="2711">
                <a:solidFill>
                  <a:srgbClr val="5E7CE2"/>
                </a:solidFill>
                <a:latin typeface="Courier New"/>
                <a:ea typeface="Courier New"/>
                <a:cs typeface="Courier New"/>
                <a:sym typeface="Courier New"/>
              </a:rPr>
              <a:t>       ├── Row (AC, ⌫, ÷, ×)</a:t>
            </a:r>
          </a:p>
          <a:p>
            <a:pPr algn="l">
              <a:lnSpc>
                <a:spcPts val="3253"/>
              </a:lnSpc>
            </a:pPr>
            <a:r>
              <a:rPr lang="en-US" sz="2711">
                <a:solidFill>
                  <a:srgbClr val="5E7CE2"/>
                </a:solidFill>
                <a:latin typeface="Courier New"/>
                <a:ea typeface="Courier New"/>
                <a:cs typeface="Courier New"/>
                <a:sym typeface="Courier New"/>
              </a:rPr>
              <a:t>       ├── Row (7, 8, 9, −)</a:t>
            </a:r>
          </a:p>
          <a:p>
            <a:pPr algn="l">
              <a:lnSpc>
                <a:spcPts val="3253"/>
              </a:lnSpc>
            </a:pPr>
            <a:r>
              <a:rPr lang="en-US" sz="2711">
                <a:solidFill>
                  <a:srgbClr val="5E7CE2"/>
                </a:solidFill>
                <a:latin typeface="Courier New"/>
                <a:ea typeface="Courier New"/>
                <a:cs typeface="Courier New"/>
                <a:sym typeface="Courier New"/>
              </a:rPr>
              <a:t>       ├── Row (4, 5, 6, +)</a:t>
            </a:r>
          </a:p>
          <a:p>
            <a:pPr algn="l">
              <a:lnSpc>
                <a:spcPts val="3253"/>
              </a:lnSpc>
            </a:pPr>
            <a:r>
              <a:rPr lang="en-US" sz="2711">
                <a:solidFill>
                  <a:srgbClr val="5E7CE2"/>
                </a:solidFill>
                <a:latin typeface="Courier New"/>
                <a:ea typeface="Courier New"/>
                <a:cs typeface="Courier New"/>
                <a:sym typeface="Courier New"/>
              </a:rPr>
              <a:t>       ├── Row (1, 2, 3, =)</a:t>
            </a:r>
          </a:p>
          <a:p>
            <a:pPr algn="l">
              <a:lnSpc>
                <a:spcPts val="3253"/>
              </a:lnSpc>
            </a:pPr>
            <a:r>
              <a:rPr lang="en-US" sz="2711">
                <a:solidFill>
                  <a:srgbClr val="5E7CE2"/>
                </a:solidFill>
                <a:latin typeface="Courier New"/>
                <a:ea typeface="Courier New"/>
                <a:cs typeface="Courier New"/>
                <a:sym typeface="Courier New"/>
              </a:rPr>
              <a:t>       └── Row (0, ., %)</a:t>
            </a:r>
          </a:p>
        </p:txBody>
      </p:sp>
      <p:sp>
        <p:nvSpPr>
          <p:cNvPr id="7" name="TextBox 7"/>
          <p:cNvSpPr txBox="1"/>
          <p:nvPr/>
        </p:nvSpPr>
        <p:spPr>
          <a:xfrm>
            <a:off x="9692640" y="2034540"/>
            <a:ext cx="5273612" cy="323326"/>
          </a:xfrm>
          <a:prstGeom prst="rect">
            <a:avLst/>
          </a:prstGeom>
        </p:spPr>
        <p:txBody>
          <a:bodyPr lIns="0" tIns="0" rIns="0" bIns="0" rtlCol="0" anchor="t">
            <a:spAutoFit/>
          </a:bodyPr>
          <a:lstStyle/>
          <a:p>
            <a:pPr algn="l">
              <a:lnSpc>
                <a:spcPts val="2618"/>
              </a:lnSpc>
            </a:pPr>
            <a:r>
              <a:rPr lang="en-US" sz="2181" b="1">
                <a:solidFill>
                  <a:srgbClr val="5E7CE2"/>
                </a:solidFill>
                <a:latin typeface="Segoe UI Bold"/>
                <a:ea typeface="Segoe UI Bold"/>
                <a:cs typeface="Segoe UI Bold"/>
                <a:sym typeface="Segoe UI Bold"/>
              </a:rPr>
              <a:t>Widget Descriptions</a:t>
            </a:r>
          </a:p>
        </p:txBody>
      </p:sp>
      <p:sp>
        <p:nvSpPr>
          <p:cNvPr id="8" name="TextBox 8"/>
          <p:cNvSpPr txBox="1"/>
          <p:nvPr/>
        </p:nvSpPr>
        <p:spPr>
          <a:xfrm>
            <a:off x="9692640" y="2782805"/>
            <a:ext cx="5273612" cy="277139"/>
          </a:xfrm>
          <a:prstGeom prst="rect">
            <a:avLst/>
          </a:prstGeom>
        </p:spPr>
        <p:txBody>
          <a:bodyPr lIns="0" tIns="0" rIns="0" bIns="0" rtlCol="0" anchor="t">
            <a:spAutoFit/>
          </a:bodyPr>
          <a:lstStyle/>
          <a:p>
            <a:pPr algn="l">
              <a:lnSpc>
                <a:spcPts val="2181"/>
              </a:lnSpc>
            </a:pPr>
            <a:r>
              <a:rPr lang="en-US" sz="1818" b="1">
                <a:solidFill>
                  <a:srgbClr val="19202C"/>
                </a:solidFill>
                <a:latin typeface="Segoe UI Bold"/>
                <a:ea typeface="Segoe UI Bold"/>
                <a:cs typeface="Segoe UI Bold"/>
                <a:sym typeface="Segoe UI Bold"/>
              </a:rPr>
              <a:t>• Scaffold</a:t>
            </a:r>
          </a:p>
        </p:txBody>
      </p:sp>
      <p:sp>
        <p:nvSpPr>
          <p:cNvPr id="9" name="TextBox 9"/>
          <p:cNvSpPr txBox="1"/>
          <p:nvPr/>
        </p:nvSpPr>
        <p:spPr>
          <a:xfrm>
            <a:off x="9985639" y="3198514"/>
            <a:ext cx="4948390" cy="242497"/>
          </a:xfrm>
          <a:prstGeom prst="rect">
            <a:avLst/>
          </a:prstGeom>
        </p:spPr>
        <p:txBody>
          <a:bodyPr lIns="0" tIns="0" rIns="0" bIns="0" rtlCol="0" anchor="t">
            <a:spAutoFit/>
          </a:bodyPr>
          <a:lstStyle/>
          <a:p>
            <a:pPr algn="l">
              <a:lnSpc>
                <a:spcPts val="1962"/>
              </a:lnSpc>
            </a:pPr>
            <a:r>
              <a:rPr lang="en-US" sz="1635">
                <a:solidFill>
                  <a:srgbClr val="000000"/>
                </a:solidFill>
                <a:latin typeface="Segoe UI"/>
                <a:ea typeface="Segoe UI"/>
                <a:cs typeface="Segoe UI"/>
                <a:sym typeface="Segoe UI"/>
              </a:rPr>
              <a:t>Provides app structure, handles app bar and body</a:t>
            </a:r>
          </a:p>
        </p:txBody>
      </p:sp>
      <p:sp>
        <p:nvSpPr>
          <p:cNvPr id="10" name="TextBox 10"/>
          <p:cNvSpPr txBox="1"/>
          <p:nvPr/>
        </p:nvSpPr>
        <p:spPr>
          <a:xfrm>
            <a:off x="9692640" y="3813753"/>
            <a:ext cx="5273612" cy="277139"/>
          </a:xfrm>
          <a:prstGeom prst="rect">
            <a:avLst/>
          </a:prstGeom>
        </p:spPr>
        <p:txBody>
          <a:bodyPr lIns="0" tIns="0" rIns="0" bIns="0" rtlCol="0" anchor="t">
            <a:spAutoFit/>
          </a:bodyPr>
          <a:lstStyle/>
          <a:p>
            <a:pPr algn="l">
              <a:lnSpc>
                <a:spcPts val="2181"/>
              </a:lnSpc>
            </a:pPr>
            <a:r>
              <a:rPr lang="en-US" sz="1818" b="1">
                <a:solidFill>
                  <a:srgbClr val="19202C"/>
                </a:solidFill>
                <a:latin typeface="Segoe UI Bold"/>
                <a:ea typeface="Segoe UI Bold"/>
                <a:cs typeface="Segoe UI Bold"/>
                <a:sym typeface="Segoe UI Bold"/>
              </a:rPr>
              <a:t>• Column</a:t>
            </a:r>
          </a:p>
        </p:txBody>
      </p:sp>
      <p:sp>
        <p:nvSpPr>
          <p:cNvPr id="11" name="TextBox 11"/>
          <p:cNvSpPr txBox="1"/>
          <p:nvPr/>
        </p:nvSpPr>
        <p:spPr>
          <a:xfrm>
            <a:off x="9985639" y="4229452"/>
            <a:ext cx="4948390" cy="242497"/>
          </a:xfrm>
          <a:prstGeom prst="rect">
            <a:avLst/>
          </a:prstGeom>
        </p:spPr>
        <p:txBody>
          <a:bodyPr lIns="0" tIns="0" rIns="0" bIns="0" rtlCol="0" anchor="t">
            <a:spAutoFit/>
          </a:bodyPr>
          <a:lstStyle/>
          <a:p>
            <a:pPr algn="l">
              <a:lnSpc>
                <a:spcPts val="1962"/>
              </a:lnSpc>
            </a:pPr>
            <a:r>
              <a:rPr lang="en-US" sz="1635">
                <a:solidFill>
                  <a:srgbClr val="000000"/>
                </a:solidFill>
                <a:latin typeface="Segoe UI"/>
                <a:ea typeface="Segoe UI"/>
                <a:cs typeface="Segoe UI"/>
                <a:sym typeface="Segoe UI"/>
              </a:rPr>
              <a:t>Arranges children vertically (display above buttons)</a:t>
            </a:r>
          </a:p>
        </p:txBody>
      </p:sp>
      <p:sp>
        <p:nvSpPr>
          <p:cNvPr id="12" name="TextBox 12"/>
          <p:cNvSpPr txBox="1"/>
          <p:nvPr/>
        </p:nvSpPr>
        <p:spPr>
          <a:xfrm>
            <a:off x="9692640" y="4844701"/>
            <a:ext cx="5273612" cy="277139"/>
          </a:xfrm>
          <a:prstGeom prst="rect">
            <a:avLst/>
          </a:prstGeom>
        </p:spPr>
        <p:txBody>
          <a:bodyPr lIns="0" tIns="0" rIns="0" bIns="0" rtlCol="0" anchor="t">
            <a:spAutoFit/>
          </a:bodyPr>
          <a:lstStyle/>
          <a:p>
            <a:pPr algn="l">
              <a:lnSpc>
                <a:spcPts val="2181"/>
              </a:lnSpc>
            </a:pPr>
            <a:r>
              <a:rPr lang="en-US" sz="1818" b="1">
                <a:solidFill>
                  <a:srgbClr val="19202C"/>
                </a:solidFill>
                <a:latin typeface="Segoe UI Bold"/>
                <a:ea typeface="Segoe UI Bold"/>
                <a:cs typeface="Segoe UI Bold"/>
                <a:sym typeface="Segoe UI Bold"/>
              </a:rPr>
              <a:t>• Row</a:t>
            </a:r>
          </a:p>
        </p:txBody>
      </p:sp>
      <p:sp>
        <p:nvSpPr>
          <p:cNvPr id="13" name="TextBox 13"/>
          <p:cNvSpPr txBox="1"/>
          <p:nvPr/>
        </p:nvSpPr>
        <p:spPr>
          <a:xfrm>
            <a:off x="9985639" y="5260400"/>
            <a:ext cx="4948390" cy="242497"/>
          </a:xfrm>
          <a:prstGeom prst="rect">
            <a:avLst/>
          </a:prstGeom>
        </p:spPr>
        <p:txBody>
          <a:bodyPr lIns="0" tIns="0" rIns="0" bIns="0" rtlCol="0" anchor="t">
            <a:spAutoFit/>
          </a:bodyPr>
          <a:lstStyle/>
          <a:p>
            <a:pPr algn="l">
              <a:lnSpc>
                <a:spcPts val="1962"/>
              </a:lnSpc>
            </a:pPr>
            <a:r>
              <a:rPr lang="en-US" sz="1635">
                <a:solidFill>
                  <a:srgbClr val="000000"/>
                </a:solidFill>
                <a:latin typeface="Segoe UI"/>
                <a:ea typeface="Segoe UI"/>
                <a:cs typeface="Segoe UI"/>
                <a:sym typeface="Segoe UI"/>
              </a:rPr>
              <a:t>Arranges buttons horizontally in each row</a:t>
            </a:r>
          </a:p>
        </p:txBody>
      </p:sp>
      <p:sp>
        <p:nvSpPr>
          <p:cNvPr id="14" name="TextBox 14"/>
          <p:cNvSpPr txBox="1"/>
          <p:nvPr/>
        </p:nvSpPr>
        <p:spPr>
          <a:xfrm>
            <a:off x="9692640" y="5875649"/>
            <a:ext cx="5273612" cy="277139"/>
          </a:xfrm>
          <a:prstGeom prst="rect">
            <a:avLst/>
          </a:prstGeom>
        </p:spPr>
        <p:txBody>
          <a:bodyPr lIns="0" tIns="0" rIns="0" bIns="0" rtlCol="0" anchor="t">
            <a:spAutoFit/>
          </a:bodyPr>
          <a:lstStyle/>
          <a:p>
            <a:pPr algn="l">
              <a:lnSpc>
                <a:spcPts val="2181"/>
              </a:lnSpc>
            </a:pPr>
            <a:r>
              <a:rPr lang="en-US" sz="1818" b="1">
                <a:solidFill>
                  <a:srgbClr val="19202C"/>
                </a:solidFill>
                <a:latin typeface="Segoe UI Bold"/>
                <a:ea typeface="Segoe UI Bold"/>
                <a:cs typeface="Segoe UI Bold"/>
                <a:sym typeface="Segoe UI Bold"/>
              </a:rPr>
              <a:t>• Text</a:t>
            </a:r>
          </a:p>
        </p:txBody>
      </p:sp>
      <p:sp>
        <p:nvSpPr>
          <p:cNvPr id="15" name="TextBox 15"/>
          <p:cNvSpPr txBox="1"/>
          <p:nvPr/>
        </p:nvSpPr>
        <p:spPr>
          <a:xfrm>
            <a:off x="9985639" y="6291348"/>
            <a:ext cx="4948390" cy="242497"/>
          </a:xfrm>
          <a:prstGeom prst="rect">
            <a:avLst/>
          </a:prstGeom>
        </p:spPr>
        <p:txBody>
          <a:bodyPr lIns="0" tIns="0" rIns="0" bIns="0" rtlCol="0" anchor="t">
            <a:spAutoFit/>
          </a:bodyPr>
          <a:lstStyle/>
          <a:p>
            <a:pPr algn="l">
              <a:lnSpc>
                <a:spcPts val="1962"/>
              </a:lnSpc>
            </a:pPr>
            <a:r>
              <a:rPr lang="en-US" sz="1635">
                <a:solidFill>
                  <a:srgbClr val="000000"/>
                </a:solidFill>
                <a:latin typeface="Segoe UI"/>
                <a:ea typeface="Segoe UI"/>
                <a:cs typeface="Segoe UI"/>
                <a:sym typeface="Segoe UI"/>
              </a:rPr>
              <a:t>Displays numbers and calculation results</a:t>
            </a:r>
          </a:p>
        </p:txBody>
      </p:sp>
      <p:sp>
        <p:nvSpPr>
          <p:cNvPr id="16" name="TextBox 16"/>
          <p:cNvSpPr txBox="1"/>
          <p:nvPr/>
        </p:nvSpPr>
        <p:spPr>
          <a:xfrm>
            <a:off x="9692640" y="6906587"/>
            <a:ext cx="5273612" cy="277139"/>
          </a:xfrm>
          <a:prstGeom prst="rect">
            <a:avLst/>
          </a:prstGeom>
        </p:spPr>
        <p:txBody>
          <a:bodyPr lIns="0" tIns="0" rIns="0" bIns="0" rtlCol="0" anchor="t">
            <a:spAutoFit/>
          </a:bodyPr>
          <a:lstStyle/>
          <a:p>
            <a:pPr algn="l">
              <a:lnSpc>
                <a:spcPts val="2181"/>
              </a:lnSpc>
            </a:pPr>
            <a:r>
              <a:rPr lang="en-US" sz="1818" b="1">
                <a:solidFill>
                  <a:srgbClr val="19202C"/>
                </a:solidFill>
                <a:latin typeface="Segoe UI Bold"/>
                <a:ea typeface="Segoe UI Bold"/>
                <a:cs typeface="Segoe UI Bold"/>
                <a:sym typeface="Segoe UI Bold"/>
              </a:rPr>
              <a:t>• ElevatedButton</a:t>
            </a:r>
          </a:p>
        </p:txBody>
      </p:sp>
      <p:sp>
        <p:nvSpPr>
          <p:cNvPr id="17" name="TextBox 17"/>
          <p:cNvSpPr txBox="1"/>
          <p:nvPr/>
        </p:nvSpPr>
        <p:spPr>
          <a:xfrm>
            <a:off x="9985639" y="7322296"/>
            <a:ext cx="4948390" cy="242497"/>
          </a:xfrm>
          <a:prstGeom prst="rect">
            <a:avLst/>
          </a:prstGeom>
        </p:spPr>
        <p:txBody>
          <a:bodyPr lIns="0" tIns="0" rIns="0" bIns="0" rtlCol="0" anchor="t">
            <a:spAutoFit/>
          </a:bodyPr>
          <a:lstStyle/>
          <a:p>
            <a:pPr algn="l">
              <a:lnSpc>
                <a:spcPts val="1962"/>
              </a:lnSpc>
            </a:pPr>
            <a:r>
              <a:rPr lang="en-US" sz="1635">
                <a:solidFill>
                  <a:srgbClr val="000000"/>
                </a:solidFill>
                <a:latin typeface="Segoe UI"/>
                <a:ea typeface="Segoe UI"/>
                <a:cs typeface="Segoe UI"/>
                <a:sym typeface="Segoe UI"/>
              </a:rPr>
              <a:t>Interactive button widget that responds to taps</a:t>
            </a:r>
          </a:p>
        </p:txBody>
      </p:sp>
      <p:sp>
        <p:nvSpPr>
          <p:cNvPr id="18" name="TextBox 18"/>
          <p:cNvSpPr txBox="1"/>
          <p:nvPr/>
        </p:nvSpPr>
        <p:spPr>
          <a:xfrm>
            <a:off x="9692640" y="7937535"/>
            <a:ext cx="5273612" cy="277139"/>
          </a:xfrm>
          <a:prstGeom prst="rect">
            <a:avLst/>
          </a:prstGeom>
        </p:spPr>
        <p:txBody>
          <a:bodyPr lIns="0" tIns="0" rIns="0" bIns="0" rtlCol="0" anchor="t">
            <a:spAutoFit/>
          </a:bodyPr>
          <a:lstStyle/>
          <a:p>
            <a:pPr algn="l">
              <a:lnSpc>
                <a:spcPts val="2181"/>
              </a:lnSpc>
            </a:pPr>
            <a:r>
              <a:rPr lang="en-US" sz="1818" b="1">
                <a:solidFill>
                  <a:srgbClr val="19202C"/>
                </a:solidFill>
                <a:latin typeface="Segoe UI Bold"/>
                <a:ea typeface="Segoe UI Bold"/>
                <a:cs typeface="Segoe UI Bold"/>
                <a:sym typeface="Segoe UI Bold"/>
              </a:rPr>
              <a:t>• Container</a:t>
            </a:r>
          </a:p>
        </p:txBody>
      </p:sp>
      <p:sp>
        <p:nvSpPr>
          <p:cNvPr id="19" name="TextBox 19"/>
          <p:cNvSpPr txBox="1"/>
          <p:nvPr/>
        </p:nvSpPr>
        <p:spPr>
          <a:xfrm>
            <a:off x="9985639" y="8353244"/>
            <a:ext cx="4948390" cy="242497"/>
          </a:xfrm>
          <a:prstGeom prst="rect">
            <a:avLst/>
          </a:prstGeom>
        </p:spPr>
        <p:txBody>
          <a:bodyPr lIns="0" tIns="0" rIns="0" bIns="0" rtlCol="0" anchor="t">
            <a:spAutoFit/>
          </a:bodyPr>
          <a:lstStyle/>
          <a:p>
            <a:pPr algn="l">
              <a:lnSpc>
                <a:spcPts val="1962"/>
              </a:lnSpc>
            </a:pPr>
            <a:r>
              <a:rPr lang="en-US" sz="1635">
                <a:solidFill>
                  <a:srgbClr val="000000"/>
                </a:solidFill>
                <a:latin typeface="Segoe UI"/>
                <a:ea typeface="Segoe UI"/>
                <a:cs typeface="Segoe UI"/>
                <a:sym typeface="Segoe UI"/>
              </a:rPr>
              <a:t>Provides padding, margins and background colours</a:t>
            </a:r>
          </a:p>
        </p:txBody>
      </p:sp>
      <p:sp>
        <p:nvSpPr>
          <p:cNvPr id="20" name="TextBox 20"/>
          <p:cNvSpPr txBox="1"/>
          <p:nvPr/>
        </p:nvSpPr>
        <p:spPr>
          <a:xfrm>
            <a:off x="9692640" y="8968483"/>
            <a:ext cx="5273612" cy="277139"/>
          </a:xfrm>
          <a:prstGeom prst="rect">
            <a:avLst/>
          </a:prstGeom>
        </p:spPr>
        <p:txBody>
          <a:bodyPr lIns="0" tIns="0" rIns="0" bIns="0" rtlCol="0" anchor="t">
            <a:spAutoFit/>
          </a:bodyPr>
          <a:lstStyle/>
          <a:p>
            <a:pPr algn="l">
              <a:lnSpc>
                <a:spcPts val="2181"/>
              </a:lnSpc>
            </a:pPr>
            <a:r>
              <a:rPr lang="en-US" sz="1818" b="1">
                <a:solidFill>
                  <a:srgbClr val="19202C"/>
                </a:solidFill>
                <a:latin typeface="Segoe UI Bold"/>
                <a:ea typeface="Segoe UI Bold"/>
                <a:cs typeface="Segoe UI Bold"/>
                <a:sym typeface="Segoe UI Bold"/>
              </a:rPr>
              <a:t>• Expanded</a:t>
            </a:r>
          </a:p>
        </p:txBody>
      </p:sp>
      <p:sp>
        <p:nvSpPr>
          <p:cNvPr id="21" name="TextBox 21"/>
          <p:cNvSpPr txBox="1"/>
          <p:nvPr/>
        </p:nvSpPr>
        <p:spPr>
          <a:xfrm>
            <a:off x="9985639" y="9384182"/>
            <a:ext cx="4948390" cy="242497"/>
          </a:xfrm>
          <a:prstGeom prst="rect">
            <a:avLst/>
          </a:prstGeom>
        </p:spPr>
        <p:txBody>
          <a:bodyPr lIns="0" tIns="0" rIns="0" bIns="0" rtlCol="0" anchor="t">
            <a:spAutoFit/>
          </a:bodyPr>
          <a:lstStyle/>
          <a:p>
            <a:pPr algn="l">
              <a:lnSpc>
                <a:spcPts val="1962"/>
              </a:lnSpc>
            </a:pPr>
            <a:r>
              <a:rPr lang="en-US" sz="1635">
                <a:solidFill>
                  <a:srgbClr val="000000"/>
                </a:solidFill>
                <a:latin typeface="Segoe UI"/>
                <a:ea typeface="Segoe UI"/>
                <a:cs typeface="Segoe UI"/>
                <a:sym typeface="Segoe UI"/>
              </a:rPr>
              <a:t>Makes each button share the row width equally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2"/>
          <p:cNvSpPr txBox="1"/>
          <p:nvPr/>
        </p:nvSpPr>
        <p:spPr>
          <a:xfrm>
            <a:off x="1188720" y="594360"/>
            <a:ext cx="15910103" cy="731520"/>
          </a:xfrm>
          <a:prstGeom prst="rect">
            <a:avLst/>
          </a:prstGeom>
        </p:spPr>
        <p:txBody>
          <a:bodyPr lIns="0" tIns="0" rIns="0" bIns="0" rtlCol="0" anchor="t">
            <a:spAutoFit/>
          </a:bodyPr>
          <a:lstStyle/>
          <a:p>
            <a:pPr algn="l">
              <a:lnSpc>
                <a:spcPts val="7920"/>
              </a:lnSpc>
            </a:pPr>
            <a:r>
              <a:rPr lang="en-US" sz="6600" b="1">
                <a:solidFill>
                  <a:srgbClr val="19202C"/>
                </a:solidFill>
                <a:latin typeface="Segoe UI Bold"/>
                <a:ea typeface="Segoe UI Bold"/>
                <a:cs typeface="Segoe UI Bold"/>
                <a:sym typeface="Segoe UI Bold"/>
              </a:rPr>
              <a:t>Calculation Workflow &amp; Logic Flow</a:t>
            </a:r>
          </a:p>
        </p:txBody>
      </p:sp>
      <p:grpSp>
        <p:nvGrpSpPr>
          <p:cNvPr id="3" name="Group 3"/>
          <p:cNvGrpSpPr/>
          <p:nvPr/>
        </p:nvGrpSpPr>
        <p:grpSpPr>
          <a:xfrm>
            <a:off x="1079421" y="1490901"/>
            <a:ext cx="4836366" cy="90630"/>
            <a:chOff x="0" y="0"/>
            <a:chExt cx="6448488" cy="120840"/>
          </a:xfrm>
        </p:grpSpPr>
        <p:sp>
          <p:nvSpPr>
            <p:cNvPr id="4" name="Freeform 4"/>
            <p:cNvSpPr/>
            <p:nvPr/>
          </p:nvSpPr>
          <p:spPr>
            <a:xfrm>
              <a:off x="0" y="0"/>
              <a:ext cx="6448425" cy="120777"/>
            </a:xfrm>
            <a:custGeom>
              <a:avLst/>
              <a:gdLst/>
              <a:ahLst/>
              <a:cxnLst/>
              <a:rect l="l" t="t" r="r" b="b"/>
              <a:pathLst>
                <a:path w="6448425" h="120777">
                  <a:moveTo>
                    <a:pt x="0" y="0"/>
                  </a:moveTo>
                  <a:lnTo>
                    <a:pt x="6448425" y="0"/>
                  </a:lnTo>
                  <a:lnTo>
                    <a:pt x="6448425" y="120777"/>
                  </a:lnTo>
                  <a:lnTo>
                    <a:pt x="0" y="120777"/>
                  </a:lnTo>
                  <a:close/>
                </a:path>
              </a:pathLst>
            </a:custGeom>
            <a:solidFill>
              <a:srgbClr val="5E7CE2"/>
            </a:solidFill>
            <a:ln w="14288" cap="sq">
              <a:solidFill>
                <a:srgbClr val="5E7CE2"/>
              </a:solidFill>
              <a:prstDash val="solid"/>
              <a:miter/>
            </a:ln>
          </p:spPr>
        </p:sp>
      </p:grpSp>
      <p:grpSp>
        <p:nvGrpSpPr>
          <p:cNvPr id="5" name="Group 5"/>
          <p:cNvGrpSpPr/>
          <p:nvPr/>
        </p:nvGrpSpPr>
        <p:grpSpPr>
          <a:xfrm>
            <a:off x="1084440" y="1952682"/>
            <a:ext cx="16182880" cy="858012"/>
            <a:chOff x="0" y="0"/>
            <a:chExt cx="21577173" cy="1144016"/>
          </a:xfrm>
        </p:grpSpPr>
        <p:sp>
          <p:nvSpPr>
            <p:cNvPr id="6" name="Freeform 6"/>
            <p:cNvSpPr/>
            <p:nvPr/>
          </p:nvSpPr>
          <p:spPr>
            <a:xfrm>
              <a:off x="0" y="0"/>
              <a:ext cx="21577173" cy="1144016"/>
            </a:xfrm>
            <a:custGeom>
              <a:avLst/>
              <a:gdLst/>
              <a:ahLst/>
              <a:cxnLst/>
              <a:rect l="l" t="t" r="r" b="b"/>
              <a:pathLst>
                <a:path w="21577173" h="1144016">
                  <a:moveTo>
                    <a:pt x="0" y="0"/>
                  </a:moveTo>
                  <a:lnTo>
                    <a:pt x="21577173" y="0"/>
                  </a:lnTo>
                  <a:lnTo>
                    <a:pt x="21577173" y="1144016"/>
                  </a:lnTo>
                  <a:lnTo>
                    <a:pt x="0" y="1144016"/>
                  </a:lnTo>
                  <a:close/>
                </a:path>
              </a:pathLst>
            </a:custGeom>
            <a:solidFill>
              <a:srgbClr val="FFFFFF"/>
            </a:solidFill>
            <a:ln w="9525" cap="sq">
              <a:solidFill>
                <a:srgbClr val="E2E8F0"/>
              </a:solidFill>
              <a:prstDash val="solid"/>
              <a:miter/>
            </a:ln>
          </p:spPr>
        </p:sp>
      </p:grpSp>
      <p:sp>
        <p:nvSpPr>
          <p:cNvPr id="7" name="TextBox 7"/>
          <p:cNvSpPr txBox="1"/>
          <p:nvPr/>
        </p:nvSpPr>
        <p:spPr>
          <a:xfrm>
            <a:off x="1464516" y="2162689"/>
            <a:ext cx="642633" cy="252117"/>
          </a:xfrm>
          <a:prstGeom prst="rect">
            <a:avLst/>
          </a:prstGeom>
        </p:spPr>
        <p:txBody>
          <a:bodyPr lIns="0" tIns="0" rIns="0" bIns="0" rtlCol="0" anchor="t">
            <a:spAutoFit/>
          </a:bodyPr>
          <a:lstStyle/>
          <a:p>
            <a:pPr algn="l">
              <a:lnSpc>
                <a:spcPts val="2040"/>
              </a:lnSpc>
            </a:pPr>
            <a:r>
              <a:rPr lang="en-US" sz="1700" b="1">
                <a:solidFill>
                  <a:srgbClr val="5E7CE2"/>
                </a:solidFill>
                <a:latin typeface="Segoe UI Bold"/>
                <a:ea typeface="Segoe UI Bold"/>
                <a:cs typeface="Segoe UI Bold"/>
                <a:sym typeface="Segoe UI Bold"/>
              </a:rPr>
              <a:t>Step 1</a:t>
            </a:r>
          </a:p>
        </p:txBody>
      </p:sp>
      <p:sp>
        <p:nvSpPr>
          <p:cNvPr id="8" name="TextBox 8"/>
          <p:cNvSpPr txBox="1"/>
          <p:nvPr/>
        </p:nvSpPr>
        <p:spPr>
          <a:xfrm>
            <a:off x="2566178" y="2162689"/>
            <a:ext cx="5324694" cy="252117"/>
          </a:xfrm>
          <a:prstGeom prst="rect">
            <a:avLst/>
          </a:prstGeom>
        </p:spPr>
        <p:txBody>
          <a:bodyPr lIns="0" tIns="0" rIns="0" bIns="0" rtlCol="0" anchor="t">
            <a:spAutoFit/>
          </a:bodyPr>
          <a:lstStyle/>
          <a:p>
            <a:pPr algn="l">
              <a:lnSpc>
                <a:spcPts val="2040"/>
              </a:lnSpc>
            </a:pPr>
            <a:r>
              <a:rPr lang="en-US" sz="1700" b="1">
                <a:solidFill>
                  <a:srgbClr val="19202C"/>
                </a:solidFill>
                <a:latin typeface="Segoe UI Bold"/>
                <a:ea typeface="Segoe UI Bold"/>
                <a:cs typeface="Segoe UI Bold"/>
                <a:sym typeface="Segoe UI Bold"/>
              </a:rPr>
              <a:t>User presses a number button (0-9)</a:t>
            </a:r>
          </a:p>
        </p:txBody>
      </p:sp>
      <p:sp>
        <p:nvSpPr>
          <p:cNvPr id="9" name="TextBox 9"/>
          <p:cNvSpPr txBox="1"/>
          <p:nvPr/>
        </p:nvSpPr>
        <p:spPr>
          <a:xfrm>
            <a:off x="8349891" y="2162689"/>
            <a:ext cx="7435748" cy="240106"/>
          </a:xfrm>
          <a:prstGeom prst="rect">
            <a:avLst/>
          </a:prstGeom>
        </p:spPr>
        <p:txBody>
          <a:bodyPr lIns="0" tIns="0" rIns="0" bIns="0" rtlCol="0" anchor="t">
            <a:spAutoFit/>
          </a:bodyPr>
          <a:lstStyle/>
          <a:p>
            <a:pPr algn="l">
              <a:lnSpc>
                <a:spcPts val="1928"/>
              </a:lnSpc>
            </a:pPr>
            <a:r>
              <a:rPr lang="en-US" sz="1607">
                <a:solidFill>
                  <a:srgbClr val="000000"/>
                </a:solidFill>
                <a:latin typeface="Segoe UI"/>
                <a:ea typeface="Segoe UI"/>
                <a:cs typeface="Segoe UI"/>
                <a:sym typeface="Segoe UI"/>
              </a:rPr>
              <a:t>Button's onPressed() callback is triggered</a:t>
            </a:r>
          </a:p>
        </p:txBody>
      </p:sp>
      <p:grpSp>
        <p:nvGrpSpPr>
          <p:cNvPr id="10" name="Group 10"/>
          <p:cNvGrpSpPr/>
          <p:nvPr/>
        </p:nvGrpSpPr>
        <p:grpSpPr>
          <a:xfrm>
            <a:off x="1084440" y="2903506"/>
            <a:ext cx="16182880" cy="858012"/>
            <a:chOff x="0" y="0"/>
            <a:chExt cx="21577173" cy="1144016"/>
          </a:xfrm>
        </p:grpSpPr>
        <p:sp>
          <p:nvSpPr>
            <p:cNvPr id="11" name="Freeform 11"/>
            <p:cNvSpPr/>
            <p:nvPr/>
          </p:nvSpPr>
          <p:spPr>
            <a:xfrm>
              <a:off x="0" y="0"/>
              <a:ext cx="21577173" cy="1144016"/>
            </a:xfrm>
            <a:custGeom>
              <a:avLst/>
              <a:gdLst/>
              <a:ahLst/>
              <a:cxnLst/>
              <a:rect l="l" t="t" r="r" b="b"/>
              <a:pathLst>
                <a:path w="21577173" h="1144016">
                  <a:moveTo>
                    <a:pt x="0" y="0"/>
                  </a:moveTo>
                  <a:lnTo>
                    <a:pt x="21577173" y="0"/>
                  </a:lnTo>
                  <a:lnTo>
                    <a:pt x="21577173" y="1144016"/>
                  </a:lnTo>
                  <a:lnTo>
                    <a:pt x="0" y="1144016"/>
                  </a:lnTo>
                  <a:close/>
                </a:path>
              </a:pathLst>
            </a:custGeom>
            <a:solidFill>
              <a:srgbClr val="FFFFFF"/>
            </a:solidFill>
            <a:ln w="9525" cap="sq">
              <a:solidFill>
                <a:srgbClr val="E2E8F0"/>
              </a:solidFill>
              <a:prstDash val="solid"/>
              <a:miter/>
            </a:ln>
          </p:spPr>
        </p:sp>
      </p:grpSp>
      <p:sp>
        <p:nvSpPr>
          <p:cNvPr id="12" name="TextBox 12"/>
          <p:cNvSpPr txBox="1"/>
          <p:nvPr/>
        </p:nvSpPr>
        <p:spPr>
          <a:xfrm>
            <a:off x="1464516" y="3113513"/>
            <a:ext cx="642633" cy="252117"/>
          </a:xfrm>
          <a:prstGeom prst="rect">
            <a:avLst/>
          </a:prstGeom>
        </p:spPr>
        <p:txBody>
          <a:bodyPr lIns="0" tIns="0" rIns="0" bIns="0" rtlCol="0" anchor="t">
            <a:spAutoFit/>
          </a:bodyPr>
          <a:lstStyle/>
          <a:p>
            <a:pPr algn="l">
              <a:lnSpc>
                <a:spcPts val="2040"/>
              </a:lnSpc>
            </a:pPr>
            <a:r>
              <a:rPr lang="en-US" sz="1700" b="1">
                <a:solidFill>
                  <a:srgbClr val="5E7CE2"/>
                </a:solidFill>
                <a:latin typeface="Segoe UI Bold"/>
                <a:ea typeface="Segoe UI Bold"/>
                <a:cs typeface="Segoe UI Bold"/>
                <a:sym typeface="Segoe UI Bold"/>
              </a:rPr>
              <a:t>Step 2</a:t>
            </a:r>
          </a:p>
        </p:txBody>
      </p:sp>
      <p:sp>
        <p:nvSpPr>
          <p:cNvPr id="13" name="TextBox 13"/>
          <p:cNvSpPr txBox="1"/>
          <p:nvPr/>
        </p:nvSpPr>
        <p:spPr>
          <a:xfrm>
            <a:off x="2566178" y="3113513"/>
            <a:ext cx="5324694" cy="252117"/>
          </a:xfrm>
          <a:prstGeom prst="rect">
            <a:avLst/>
          </a:prstGeom>
        </p:spPr>
        <p:txBody>
          <a:bodyPr lIns="0" tIns="0" rIns="0" bIns="0" rtlCol="0" anchor="t">
            <a:spAutoFit/>
          </a:bodyPr>
          <a:lstStyle/>
          <a:p>
            <a:pPr algn="l">
              <a:lnSpc>
                <a:spcPts val="2040"/>
              </a:lnSpc>
            </a:pPr>
            <a:r>
              <a:rPr lang="en-US" sz="1700" b="1">
                <a:solidFill>
                  <a:srgbClr val="19202C"/>
                </a:solidFill>
                <a:latin typeface="Segoe UI Bold"/>
                <a:ea typeface="Segoe UI Bold"/>
                <a:cs typeface="Segoe UI Bold"/>
                <a:sym typeface="Segoe UI Bold"/>
              </a:rPr>
              <a:t>Digit is appended to the display text</a:t>
            </a:r>
          </a:p>
        </p:txBody>
      </p:sp>
      <p:sp>
        <p:nvSpPr>
          <p:cNvPr id="14" name="TextBox 14"/>
          <p:cNvSpPr txBox="1"/>
          <p:nvPr/>
        </p:nvSpPr>
        <p:spPr>
          <a:xfrm>
            <a:off x="8349891" y="3113513"/>
            <a:ext cx="7435748" cy="240106"/>
          </a:xfrm>
          <a:prstGeom prst="rect">
            <a:avLst/>
          </a:prstGeom>
        </p:spPr>
        <p:txBody>
          <a:bodyPr lIns="0" tIns="0" rIns="0" bIns="0" rtlCol="0" anchor="t">
            <a:spAutoFit/>
          </a:bodyPr>
          <a:lstStyle/>
          <a:p>
            <a:pPr algn="l">
              <a:lnSpc>
                <a:spcPts val="1928"/>
              </a:lnSpc>
            </a:pPr>
            <a:r>
              <a:rPr lang="en-US" sz="1607">
                <a:solidFill>
                  <a:srgbClr val="000000"/>
                </a:solidFill>
                <a:latin typeface="Segoe UI"/>
                <a:ea typeface="Segoe UI"/>
                <a:cs typeface="Segoe UI"/>
                <a:sym typeface="Segoe UI"/>
              </a:rPr>
              <a:t>onNumberPressed() updates the display via setState()</a:t>
            </a:r>
          </a:p>
        </p:txBody>
      </p:sp>
      <p:grpSp>
        <p:nvGrpSpPr>
          <p:cNvPr id="15" name="Group 15"/>
          <p:cNvGrpSpPr/>
          <p:nvPr/>
        </p:nvGrpSpPr>
        <p:grpSpPr>
          <a:xfrm>
            <a:off x="1084440" y="3854339"/>
            <a:ext cx="16182880" cy="858012"/>
            <a:chOff x="0" y="0"/>
            <a:chExt cx="21577173" cy="1144016"/>
          </a:xfrm>
        </p:grpSpPr>
        <p:sp>
          <p:nvSpPr>
            <p:cNvPr id="16" name="Freeform 16"/>
            <p:cNvSpPr/>
            <p:nvPr/>
          </p:nvSpPr>
          <p:spPr>
            <a:xfrm>
              <a:off x="0" y="0"/>
              <a:ext cx="21577173" cy="1144016"/>
            </a:xfrm>
            <a:custGeom>
              <a:avLst/>
              <a:gdLst/>
              <a:ahLst/>
              <a:cxnLst/>
              <a:rect l="l" t="t" r="r" b="b"/>
              <a:pathLst>
                <a:path w="21577173" h="1144016">
                  <a:moveTo>
                    <a:pt x="0" y="0"/>
                  </a:moveTo>
                  <a:lnTo>
                    <a:pt x="21577173" y="0"/>
                  </a:lnTo>
                  <a:lnTo>
                    <a:pt x="21577173" y="1144016"/>
                  </a:lnTo>
                  <a:lnTo>
                    <a:pt x="0" y="1144016"/>
                  </a:lnTo>
                  <a:close/>
                </a:path>
              </a:pathLst>
            </a:custGeom>
            <a:solidFill>
              <a:srgbClr val="FFFFFF"/>
            </a:solidFill>
            <a:ln w="9525" cap="sq">
              <a:solidFill>
                <a:srgbClr val="E2E8F0"/>
              </a:solidFill>
              <a:prstDash val="solid"/>
              <a:miter/>
            </a:ln>
          </p:spPr>
        </p:sp>
      </p:grpSp>
      <p:sp>
        <p:nvSpPr>
          <p:cNvPr id="17" name="TextBox 17"/>
          <p:cNvSpPr txBox="1"/>
          <p:nvPr/>
        </p:nvSpPr>
        <p:spPr>
          <a:xfrm>
            <a:off x="1464516" y="4064337"/>
            <a:ext cx="642633" cy="252117"/>
          </a:xfrm>
          <a:prstGeom prst="rect">
            <a:avLst/>
          </a:prstGeom>
        </p:spPr>
        <p:txBody>
          <a:bodyPr lIns="0" tIns="0" rIns="0" bIns="0" rtlCol="0" anchor="t">
            <a:spAutoFit/>
          </a:bodyPr>
          <a:lstStyle/>
          <a:p>
            <a:pPr algn="l">
              <a:lnSpc>
                <a:spcPts val="2040"/>
              </a:lnSpc>
            </a:pPr>
            <a:r>
              <a:rPr lang="en-US" sz="1700" b="1">
                <a:solidFill>
                  <a:srgbClr val="5E7CE2"/>
                </a:solidFill>
                <a:latin typeface="Segoe UI Bold"/>
                <a:ea typeface="Segoe UI Bold"/>
                <a:cs typeface="Segoe UI Bold"/>
                <a:sym typeface="Segoe UI Bold"/>
              </a:rPr>
              <a:t>Step 3</a:t>
            </a:r>
          </a:p>
        </p:txBody>
      </p:sp>
      <p:sp>
        <p:nvSpPr>
          <p:cNvPr id="18" name="TextBox 18"/>
          <p:cNvSpPr txBox="1"/>
          <p:nvPr/>
        </p:nvSpPr>
        <p:spPr>
          <a:xfrm>
            <a:off x="2566178" y="4064337"/>
            <a:ext cx="5324694" cy="252117"/>
          </a:xfrm>
          <a:prstGeom prst="rect">
            <a:avLst/>
          </a:prstGeom>
        </p:spPr>
        <p:txBody>
          <a:bodyPr lIns="0" tIns="0" rIns="0" bIns="0" rtlCol="0" anchor="t">
            <a:spAutoFit/>
          </a:bodyPr>
          <a:lstStyle/>
          <a:p>
            <a:pPr algn="l">
              <a:lnSpc>
                <a:spcPts val="2040"/>
              </a:lnSpc>
            </a:pPr>
            <a:r>
              <a:rPr lang="en-US" sz="1700" b="1">
                <a:solidFill>
                  <a:srgbClr val="19202C"/>
                </a:solidFill>
                <a:latin typeface="Segoe UI Bold"/>
                <a:ea typeface="Segoe UI Bold"/>
                <a:cs typeface="Segoe UI Bold"/>
                <a:sym typeface="Segoe UI Bold"/>
              </a:rPr>
              <a:t>User presses an operator button (+, −, ×, ÷)</a:t>
            </a:r>
          </a:p>
        </p:txBody>
      </p:sp>
      <p:sp>
        <p:nvSpPr>
          <p:cNvPr id="19" name="TextBox 19"/>
          <p:cNvSpPr txBox="1"/>
          <p:nvPr/>
        </p:nvSpPr>
        <p:spPr>
          <a:xfrm>
            <a:off x="8349891" y="4064337"/>
            <a:ext cx="7435748" cy="240106"/>
          </a:xfrm>
          <a:prstGeom prst="rect">
            <a:avLst/>
          </a:prstGeom>
        </p:spPr>
        <p:txBody>
          <a:bodyPr lIns="0" tIns="0" rIns="0" bIns="0" rtlCol="0" anchor="t">
            <a:spAutoFit/>
          </a:bodyPr>
          <a:lstStyle/>
          <a:p>
            <a:pPr algn="l">
              <a:lnSpc>
                <a:spcPts val="1928"/>
              </a:lnSpc>
            </a:pPr>
            <a:r>
              <a:rPr lang="en-US" sz="1607">
                <a:solidFill>
                  <a:srgbClr val="000000"/>
                </a:solidFill>
                <a:latin typeface="Segoe UI"/>
                <a:ea typeface="Segoe UI"/>
                <a:cs typeface="Segoe UI"/>
                <a:sym typeface="Segoe UI"/>
              </a:rPr>
              <a:t>firstNumber and operation are saved; next digit replaces display</a:t>
            </a:r>
          </a:p>
        </p:txBody>
      </p:sp>
      <p:grpSp>
        <p:nvGrpSpPr>
          <p:cNvPr id="20" name="Group 20"/>
          <p:cNvGrpSpPr/>
          <p:nvPr/>
        </p:nvGrpSpPr>
        <p:grpSpPr>
          <a:xfrm>
            <a:off x="1084440" y="4805162"/>
            <a:ext cx="16182880" cy="858012"/>
            <a:chOff x="0" y="0"/>
            <a:chExt cx="21577173" cy="1144016"/>
          </a:xfrm>
        </p:grpSpPr>
        <p:sp>
          <p:nvSpPr>
            <p:cNvPr id="21" name="Freeform 21"/>
            <p:cNvSpPr/>
            <p:nvPr/>
          </p:nvSpPr>
          <p:spPr>
            <a:xfrm>
              <a:off x="0" y="0"/>
              <a:ext cx="21577173" cy="1144016"/>
            </a:xfrm>
            <a:custGeom>
              <a:avLst/>
              <a:gdLst/>
              <a:ahLst/>
              <a:cxnLst/>
              <a:rect l="l" t="t" r="r" b="b"/>
              <a:pathLst>
                <a:path w="21577173" h="1144016">
                  <a:moveTo>
                    <a:pt x="0" y="0"/>
                  </a:moveTo>
                  <a:lnTo>
                    <a:pt x="21577173" y="0"/>
                  </a:lnTo>
                  <a:lnTo>
                    <a:pt x="21577173" y="1144016"/>
                  </a:lnTo>
                  <a:lnTo>
                    <a:pt x="0" y="1144016"/>
                  </a:lnTo>
                  <a:close/>
                </a:path>
              </a:pathLst>
            </a:custGeom>
            <a:solidFill>
              <a:srgbClr val="FFFFFF"/>
            </a:solidFill>
            <a:ln w="9525" cap="sq">
              <a:solidFill>
                <a:srgbClr val="E2E8F0"/>
              </a:solidFill>
              <a:prstDash val="solid"/>
              <a:miter/>
            </a:ln>
          </p:spPr>
        </p:sp>
      </p:grpSp>
      <p:sp>
        <p:nvSpPr>
          <p:cNvPr id="22" name="TextBox 22"/>
          <p:cNvSpPr txBox="1"/>
          <p:nvPr/>
        </p:nvSpPr>
        <p:spPr>
          <a:xfrm>
            <a:off x="1464516" y="5015170"/>
            <a:ext cx="642633" cy="252117"/>
          </a:xfrm>
          <a:prstGeom prst="rect">
            <a:avLst/>
          </a:prstGeom>
        </p:spPr>
        <p:txBody>
          <a:bodyPr lIns="0" tIns="0" rIns="0" bIns="0" rtlCol="0" anchor="t">
            <a:spAutoFit/>
          </a:bodyPr>
          <a:lstStyle/>
          <a:p>
            <a:pPr algn="l">
              <a:lnSpc>
                <a:spcPts val="2040"/>
              </a:lnSpc>
            </a:pPr>
            <a:r>
              <a:rPr lang="en-US" sz="1700" b="1">
                <a:solidFill>
                  <a:srgbClr val="5E7CE2"/>
                </a:solidFill>
                <a:latin typeface="Segoe UI Bold"/>
                <a:ea typeface="Segoe UI Bold"/>
                <a:cs typeface="Segoe UI Bold"/>
                <a:sym typeface="Segoe UI Bold"/>
              </a:rPr>
              <a:t>Step 4</a:t>
            </a:r>
          </a:p>
        </p:txBody>
      </p:sp>
      <p:sp>
        <p:nvSpPr>
          <p:cNvPr id="23" name="TextBox 23"/>
          <p:cNvSpPr txBox="1"/>
          <p:nvPr/>
        </p:nvSpPr>
        <p:spPr>
          <a:xfrm>
            <a:off x="2566178" y="5015170"/>
            <a:ext cx="5324694" cy="252117"/>
          </a:xfrm>
          <a:prstGeom prst="rect">
            <a:avLst/>
          </a:prstGeom>
        </p:spPr>
        <p:txBody>
          <a:bodyPr lIns="0" tIns="0" rIns="0" bIns="0" rtlCol="0" anchor="t">
            <a:spAutoFit/>
          </a:bodyPr>
          <a:lstStyle/>
          <a:p>
            <a:pPr algn="l">
              <a:lnSpc>
                <a:spcPts val="2040"/>
              </a:lnSpc>
            </a:pPr>
            <a:r>
              <a:rPr lang="en-US" sz="1700" b="1">
                <a:solidFill>
                  <a:srgbClr val="19202C"/>
                </a:solidFill>
                <a:latin typeface="Segoe UI Bold"/>
                <a:ea typeface="Segoe UI Bold"/>
                <a:cs typeface="Segoe UI Bold"/>
                <a:sym typeface="Segoe UI Bold"/>
              </a:rPr>
              <a:t>User enters second number (0-9)</a:t>
            </a:r>
          </a:p>
        </p:txBody>
      </p:sp>
      <p:sp>
        <p:nvSpPr>
          <p:cNvPr id="24" name="TextBox 24"/>
          <p:cNvSpPr txBox="1"/>
          <p:nvPr/>
        </p:nvSpPr>
        <p:spPr>
          <a:xfrm>
            <a:off x="8349891" y="5015170"/>
            <a:ext cx="7435748" cy="240106"/>
          </a:xfrm>
          <a:prstGeom prst="rect">
            <a:avLst/>
          </a:prstGeom>
        </p:spPr>
        <p:txBody>
          <a:bodyPr lIns="0" tIns="0" rIns="0" bIns="0" rtlCol="0" anchor="t">
            <a:spAutoFit/>
          </a:bodyPr>
          <a:lstStyle/>
          <a:p>
            <a:pPr algn="l">
              <a:lnSpc>
                <a:spcPts val="1928"/>
              </a:lnSpc>
            </a:pPr>
            <a:r>
              <a:rPr lang="en-US" sz="1607">
                <a:solidFill>
                  <a:srgbClr val="000000"/>
                </a:solidFill>
                <a:latin typeface="Segoe UI"/>
                <a:ea typeface="Segoe UI"/>
                <a:cs typeface="Segoe UI"/>
                <a:sym typeface="Segoe UI"/>
              </a:rPr>
              <a:t>Digits appear on the display</a:t>
            </a:r>
          </a:p>
        </p:txBody>
      </p:sp>
      <p:grpSp>
        <p:nvGrpSpPr>
          <p:cNvPr id="25" name="Group 25"/>
          <p:cNvGrpSpPr/>
          <p:nvPr/>
        </p:nvGrpSpPr>
        <p:grpSpPr>
          <a:xfrm>
            <a:off x="1084440" y="5755986"/>
            <a:ext cx="16182880" cy="858012"/>
            <a:chOff x="0" y="0"/>
            <a:chExt cx="21577173" cy="1144016"/>
          </a:xfrm>
        </p:grpSpPr>
        <p:sp>
          <p:nvSpPr>
            <p:cNvPr id="26" name="Freeform 26"/>
            <p:cNvSpPr/>
            <p:nvPr/>
          </p:nvSpPr>
          <p:spPr>
            <a:xfrm>
              <a:off x="0" y="0"/>
              <a:ext cx="21577173" cy="1144016"/>
            </a:xfrm>
            <a:custGeom>
              <a:avLst/>
              <a:gdLst/>
              <a:ahLst/>
              <a:cxnLst/>
              <a:rect l="l" t="t" r="r" b="b"/>
              <a:pathLst>
                <a:path w="21577173" h="1144016">
                  <a:moveTo>
                    <a:pt x="0" y="0"/>
                  </a:moveTo>
                  <a:lnTo>
                    <a:pt x="21577173" y="0"/>
                  </a:lnTo>
                  <a:lnTo>
                    <a:pt x="21577173" y="1144016"/>
                  </a:lnTo>
                  <a:lnTo>
                    <a:pt x="0" y="1144016"/>
                  </a:lnTo>
                  <a:close/>
                </a:path>
              </a:pathLst>
            </a:custGeom>
            <a:solidFill>
              <a:srgbClr val="FFFFFF"/>
            </a:solidFill>
            <a:ln w="9525" cap="sq">
              <a:solidFill>
                <a:srgbClr val="E2E8F0"/>
              </a:solidFill>
              <a:prstDash val="solid"/>
              <a:miter/>
            </a:ln>
          </p:spPr>
        </p:sp>
      </p:grpSp>
      <p:sp>
        <p:nvSpPr>
          <p:cNvPr id="27" name="TextBox 27"/>
          <p:cNvSpPr txBox="1"/>
          <p:nvPr/>
        </p:nvSpPr>
        <p:spPr>
          <a:xfrm>
            <a:off x="1464516" y="5965993"/>
            <a:ext cx="642633" cy="252117"/>
          </a:xfrm>
          <a:prstGeom prst="rect">
            <a:avLst/>
          </a:prstGeom>
        </p:spPr>
        <p:txBody>
          <a:bodyPr lIns="0" tIns="0" rIns="0" bIns="0" rtlCol="0" anchor="t">
            <a:spAutoFit/>
          </a:bodyPr>
          <a:lstStyle/>
          <a:p>
            <a:pPr algn="l">
              <a:lnSpc>
                <a:spcPts val="2040"/>
              </a:lnSpc>
            </a:pPr>
            <a:r>
              <a:rPr lang="en-US" sz="1700" b="1">
                <a:solidFill>
                  <a:srgbClr val="5E7CE2"/>
                </a:solidFill>
                <a:latin typeface="Segoe UI Bold"/>
                <a:ea typeface="Segoe UI Bold"/>
                <a:cs typeface="Segoe UI Bold"/>
                <a:sym typeface="Segoe UI Bold"/>
              </a:rPr>
              <a:t>Step 5</a:t>
            </a:r>
          </a:p>
        </p:txBody>
      </p:sp>
      <p:sp>
        <p:nvSpPr>
          <p:cNvPr id="28" name="TextBox 28"/>
          <p:cNvSpPr txBox="1"/>
          <p:nvPr/>
        </p:nvSpPr>
        <p:spPr>
          <a:xfrm>
            <a:off x="2566178" y="5965993"/>
            <a:ext cx="5324694" cy="252117"/>
          </a:xfrm>
          <a:prstGeom prst="rect">
            <a:avLst/>
          </a:prstGeom>
        </p:spPr>
        <p:txBody>
          <a:bodyPr lIns="0" tIns="0" rIns="0" bIns="0" rtlCol="0" anchor="t">
            <a:spAutoFit/>
          </a:bodyPr>
          <a:lstStyle/>
          <a:p>
            <a:pPr algn="l">
              <a:lnSpc>
                <a:spcPts val="2040"/>
              </a:lnSpc>
            </a:pPr>
            <a:r>
              <a:rPr lang="en-US" sz="1700" b="1">
                <a:solidFill>
                  <a:srgbClr val="19202C"/>
                </a:solidFill>
                <a:latin typeface="Segoe UI Bold"/>
                <a:ea typeface="Segoe UI Bold"/>
                <a:cs typeface="Segoe UI Bold"/>
                <a:sym typeface="Segoe UI Bold"/>
              </a:rPr>
              <a:t>User presses equals button (=)</a:t>
            </a:r>
          </a:p>
        </p:txBody>
      </p:sp>
      <p:sp>
        <p:nvSpPr>
          <p:cNvPr id="29" name="TextBox 29"/>
          <p:cNvSpPr txBox="1"/>
          <p:nvPr/>
        </p:nvSpPr>
        <p:spPr>
          <a:xfrm>
            <a:off x="8349891" y="5965993"/>
            <a:ext cx="7435748" cy="240106"/>
          </a:xfrm>
          <a:prstGeom prst="rect">
            <a:avLst/>
          </a:prstGeom>
        </p:spPr>
        <p:txBody>
          <a:bodyPr lIns="0" tIns="0" rIns="0" bIns="0" rtlCol="0" anchor="t">
            <a:spAutoFit/>
          </a:bodyPr>
          <a:lstStyle/>
          <a:p>
            <a:pPr algn="l">
              <a:lnSpc>
                <a:spcPts val="1928"/>
              </a:lnSpc>
            </a:pPr>
            <a:r>
              <a:rPr lang="en-US" sz="1607">
                <a:solidFill>
                  <a:srgbClr val="000000"/>
                </a:solidFill>
                <a:latin typeface="Segoe UI"/>
                <a:ea typeface="Segoe UI"/>
                <a:cs typeface="Segoe UI"/>
                <a:sym typeface="Segoe UI"/>
              </a:rPr>
              <a:t>secondNumber is read from display; if/else picks the operator</a:t>
            </a:r>
          </a:p>
        </p:txBody>
      </p:sp>
      <p:grpSp>
        <p:nvGrpSpPr>
          <p:cNvPr id="30" name="Group 30"/>
          <p:cNvGrpSpPr/>
          <p:nvPr/>
        </p:nvGrpSpPr>
        <p:grpSpPr>
          <a:xfrm>
            <a:off x="1084440" y="6706810"/>
            <a:ext cx="16182880" cy="858012"/>
            <a:chOff x="0" y="0"/>
            <a:chExt cx="21577173" cy="1144016"/>
          </a:xfrm>
        </p:grpSpPr>
        <p:sp>
          <p:nvSpPr>
            <p:cNvPr id="31" name="Freeform 31"/>
            <p:cNvSpPr/>
            <p:nvPr/>
          </p:nvSpPr>
          <p:spPr>
            <a:xfrm>
              <a:off x="0" y="0"/>
              <a:ext cx="21577173" cy="1144016"/>
            </a:xfrm>
            <a:custGeom>
              <a:avLst/>
              <a:gdLst/>
              <a:ahLst/>
              <a:cxnLst/>
              <a:rect l="l" t="t" r="r" b="b"/>
              <a:pathLst>
                <a:path w="21577173" h="1144016">
                  <a:moveTo>
                    <a:pt x="0" y="0"/>
                  </a:moveTo>
                  <a:lnTo>
                    <a:pt x="21577173" y="0"/>
                  </a:lnTo>
                  <a:lnTo>
                    <a:pt x="21577173" y="1144016"/>
                  </a:lnTo>
                  <a:lnTo>
                    <a:pt x="0" y="1144016"/>
                  </a:lnTo>
                  <a:close/>
                </a:path>
              </a:pathLst>
            </a:custGeom>
            <a:solidFill>
              <a:srgbClr val="FFFFFF"/>
            </a:solidFill>
            <a:ln w="9525" cap="sq">
              <a:solidFill>
                <a:srgbClr val="E2E8F0"/>
              </a:solidFill>
              <a:prstDash val="solid"/>
              <a:miter/>
            </a:ln>
          </p:spPr>
        </p:sp>
      </p:grpSp>
      <p:sp>
        <p:nvSpPr>
          <p:cNvPr id="32" name="TextBox 32"/>
          <p:cNvSpPr txBox="1"/>
          <p:nvPr/>
        </p:nvSpPr>
        <p:spPr>
          <a:xfrm>
            <a:off x="1464516" y="6916817"/>
            <a:ext cx="642633" cy="252117"/>
          </a:xfrm>
          <a:prstGeom prst="rect">
            <a:avLst/>
          </a:prstGeom>
        </p:spPr>
        <p:txBody>
          <a:bodyPr lIns="0" tIns="0" rIns="0" bIns="0" rtlCol="0" anchor="t">
            <a:spAutoFit/>
          </a:bodyPr>
          <a:lstStyle/>
          <a:p>
            <a:pPr algn="l">
              <a:lnSpc>
                <a:spcPts val="2040"/>
              </a:lnSpc>
            </a:pPr>
            <a:r>
              <a:rPr lang="en-US" sz="1700" b="1">
                <a:solidFill>
                  <a:srgbClr val="5E7CE2"/>
                </a:solidFill>
                <a:latin typeface="Segoe UI Bold"/>
                <a:ea typeface="Segoe UI Bold"/>
                <a:cs typeface="Segoe UI Bold"/>
                <a:sym typeface="Segoe UI Bold"/>
              </a:rPr>
              <a:t>Step 6</a:t>
            </a:r>
          </a:p>
        </p:txBody>
      </p:sp>
      <p:sp>
        <p:nvSpPr>
          <p:cNvPr id="33" name="TextBox 33"/>
          <p:cNvSpPr txBox="1"/>
          <p:nvPr/>
        </p:nvSpPr>
        <p:spPr>
          <a:xfrm>
            <a:off x="2566178" y="6916817"/>
            <a:ext cx="5324694" cy="252117"/>
          </a:xfrm>
          <a:prstGeom prst="rect">
            <a:avLst/>
          </a:prstGeom>
        </p:spPr>
        <p:txBody>
          <a:bodyPr lIns="0" tIns="0" rIns="0" bIns="0" rtlCol="0" anchor="t">
            <a:spAutoFit/>
          </a:bodyPr>
          <a:lstStyle/>
          <a:p>
            <a:pPr algn="l">
              <a:lnSpc>
                <a:spcPts val="2040"/>
              </a:lnSpc>
            </a:pPr>
            <a:r>
              <a:rPr lang="en-US" sz="1700" b="1">
                <a:solidFill>
                  <a:srgbClr val="19202C"/>
                </a:solidFill>
                <a:latin typeface="Segoe UI Bold"/>
                <a:ea typeface="Segoe UI Bold"/>
                <a:cs typeface="Segoe UI Bold"/>
                <a:sym typeface="Segoe UI Bold"/>
              </a:rPr>
              <a:t>Calculation is performed</a:t>
            </a:r>
          </a:p>
        </p:txBody>
      </p:sp>
      <p:sp>
        <p:nvSpPr>
          <p:cNvPr id="34" name="TextBox 34"/>
          <p:cNvSpPr txBox="1"/>
          <p:nvPr/>
        </p:nvSpPr>
        <p:spPr>
          <a:xfrm>
            <a:off x="8349891" y="6916817"/>
            <a:ext cx="7435748" cy="240106"/>
          </a:xfrm>
          <a:prstGeom prst="rect">
            <a:avLst/>
          </a:prstGeom>
        </p:spPr>
        <p:txBody>
          <a:bodyPr lIns="0" tIns="0" rIns="0" bIns="0" rtlCol="0" anchor="t">
            <a:spAutoFit/>
          </a:bodyPr>
          <a:lstStyle/>
          <a:p>
            <a:pPr algn="l">
              <a:lnSpc>
                <a:spcPts val="1928"/>
              </a:lnSpc>
            </a:pPr>
            <a:r>
              <a:rPr lang="en-US" sz="1607">
                <a:solidFill>
                  <a:srgbClr val="000000"/>
                </a:solidFill>
                <a:latin typeface="Segoe UI"/>
                <a:ea typeface="Segoe UI"/>
                <a:cs typeface="Segoe UI"/>
                <a:sym typeface="Segoe UI"/>
              </a:rPr>
              <a:t>Appropriate arithmetic operation executes</a:t>
            </a:r>
          </a:p>
        </p:txBody>
      </p:sp>
      <p:grpSp>
        <p:nvGrpSpPr>
          <p:cNvPr id="35" name="Group 35"/>
          <p:cNvGrpSpPr/>
          <p:nvPr/>
        </p:nvGrpSpPr>
        <p:grpSpPr>
          <a:xfrm>
            <a:off x="1084440" y="7657643"/>
            <a:ext cx="16182880" cy="858012"/>
            <a:chOff x="0" y="0"/>
            <a:chExt cx="21577173" cy="1144016"/>
          </a:xfrm>
        </p:grpSpPr>
        <p:sp>
          <p:nvSpPr>
            <p:cNvPr id="36" name="Freeform 36"/>
            <p:cNvSpPr/>
            <p:nvPr/>
          </p:nvSpPr>
          <p:spPr>
            <a:xfrm>
              <a:off x="0" y="0"/>
              <a:ext cx="21577173" cy="1144016"/>
            </a:xfrm>
            <a:custGeom>
              <a:avLst/>
              <a:gdLst/>
              <a:ahLst/>
              <a:cxnLst/>
              <a:rect l="l" t="t" r="r" b="b"/>
              <a:pathLst>
                <a:path w="21577173" h="1144016">
                  <a:moveTo>
                    <a:pt x="0" y="0"/>
                  </a:moveTo>
                  <a:lnTo>
                    <a:pt x="21577173" y="0"/>
                  </a:lnTo>
                  <a:lnTo>
                    <a:pt x="21577173" y="1144016"/>
                  </a:lnTo>
                  <a:lnTo>
                    <a:pt x="0" y="1144016"/>
                  </a:lnTo>
                  <a:close/>
                </a:path>
              </a:pathLst>
            </a:custGeom>
            <a:solidFill>
              <a:srgbClr val="FFFFFF"/>
            </a:solidFill>
            <a:ln w="9525" cap="sq">
              <a:solidFill>
                <a:srgbClr val="E2E8F0"/>
              </a:solidFill>
              <a:prstDash val="solid"/>
              <a:miter/>
            </a:ln>
          </p:spPr>
        </p:sp>
      </p:grpSp>
      <p:sp>
        <p:nvSpPr>
          <p:cNvPr id="37" name="TextBox 37"/>
          <p:cNvSpPr txBox="1"/>
          <p:nvPr/>
        </p:nvSpPr>
        <p:spPr>
          <a:xfrm>
            <a:off x="1464516" y="7867640"/>
            <a:ext cx="642633" cy="252117"/>
          </a:xfrm>
          <a:prstGeom prst="rect">
            <a:avLst/>
          </a:prstGeom>
        </p:spPr>
        <p:txBody>
          <a:bodyPr lIns="0" tIns="0" rIns="0" bIns="0" rtlCol="0" anchor="t">
            <a:spAutoFit/>
          </a:bodyPr>
          <a:lstStyle/>
          <a:p>
            <a:pPr algn="l">
              <a:lnSpc>
                <a:spcPts val="2040"/>
              </a:lnSpc>
            </a:pPr>
            <a:r>
              <a:rPr lang="en-US" sz="1700" b="1">
                <a:solidFill>
                  <a:srgbClr val="5E7CE2"/>
                </a:solidFill>
                <a:latin typeface="Segoe UI Bold"/>
                <a:ea typeface="Segoe UI Bold"/>
                <a:cs typeface="Segoe UI Bold"/>
                <a:sym typeface="Segoe UI Bold"/>
              </a:rPr>
              <a:t>Step 7</a:t>
            </a:r>
          </a:p>
        </p:txBody>
      </p:sp>
      <p:sp>
        <p:nvSpPr>
          <p:cNvPr id="38" name="TextBox 38"/>
          <p:cNvSpPr txBox="1"/>
          <p:nvPr/>
        </p:nvSpPr>
        <p:spPr>
          <a:xfrm>
            <a:off x="2566178" y="7867640"/>
            <a:ext cx="5324694" cy="252117"/>
          </a:xfrm>
          <a:prstGeom prst="rect">
            <a:avLst/>
          </a:prstGeom>
        </p:spPr>
        <p:txBody>
          <a:bodyPr lIns="0" tIns="0" rIns="0" bIns="0" rtlCol="0" anchor="t">
            <a:spAutoFit/>
          </a:bodyPr>
          <a:lstStyle/>
          <a:p>
            <a:pPr algn="l">
              <a:lnSpc>
                <a:spcPts val="2040"/>
              </a:lnSpc>
            </a:pPr>
            <a:r>
              <a:rPr lang="en-US" sz="1700" b="1">
                <a:solidFill>
                  <a:srgbClr val="19202C"/>
                </a:solidFill>
                <a:latin typeface="Segoe UI Bold"/>
                <a:ea typeface="Segoe UI Bold"/>
                <a:cs typeface="Segoe UI Bold"/>
                <a:sym typeface="Segoe UI Bold"/>
              </a:rPr>
              <a:t>Error handling checks division by zero</a:t>
            </a:r>
          </a:p>
        </p:txBody>
      </p:sp>
      <p:sp>
        <p:nvSpPr>
          <p:cNvPr id="39" name="TextBox 39"/>
          <p:cNvSpPr txBox="1"/>
          <p:nvPr/>
        </p:nvSpPr>
        <p:spPr>
          <a:xfrm>
            <a:off x="8349891" y="7867640"/>
            <a:ext cx="7435748" cy="240106"/>
          </a:xfrm>
          <a:prstGeom prst="rect">
            <a:avLst/>
          </a:prstGeom>
        </p:spPr>
        <p:txBody>
          <a:bodyPr lIns="0" tIns="0" rIns="0" bIns="0" rtlCol="0" anchor="t">
            <a:spAutoFit/>
          </a:bodyPr>
          <a:lstStyle/>
          <a:p>
            <a:pPr algn="l">
              <a:lnSpc>
                <a:spcPts val="1928"/>
              </a:lnSpc>
            </a:pPr>
            <a:r>
              <a:rPr lang="en-US" sz="1607">
                <a:solidFill>
                  <a:srgbClr val="000000"/>
                </a:solidFill>
                <a:latin typeface="Segoe UI"/>
                <a:ea typeface="Segoe UI"/>
                <a:cs typeface="Segoe UI"/>
                <a:sym typeface="Segoe UI"/>
              </a:rPr>
              <a:t>If dividing by 0, display shows "Error: Div by 0"</a:t>
            </a:r>
          </a:p>
        </p:txBody>
      </p:sp>
      <p:grpSp>
        <p:nvGrpSpPr>
          <p:cNvPr id="40" name="Group 40"/>
          <p:cNvGrpSpPr/>
          <p:nvPr/>
        </p:nvGrpSpPr>
        <p:grpSpPr>
          <a:xfrm>
            <a:off x="1084440" y="8608466"/>
            <a:ext cx="16182880" cy="858012"/>
            <a:chOff x="0" y="0"/>
            <a:chExt cx="21577173" cy="1144016"/>
          </a:xfrm>
        </p:grpSpPr>
        <p:sp>
          <p:nvSpPr>
            <p:cNvPr id="41" name="Freeform 41"/>
            <p:cNvSpPr/>
            <p:nvPr/>
          </p:nvSpPr>
          <p:spPr>
            <a:xfrm>
              <a:off x="0" y="0"/>
              <a:ext cx="21577173" cy="1144016"/>
            </a:xfrm>
            <a:custGeom>
              <a:avLst/>
              <a:gdLst/>
              <a:ahLst/>
              <a:cxnLst/>
              <a:rect l="l" t="t" r="r" b="b"/>
              <a:pathLst>
                <a:path w="21577173" h="1144016">
                  <a:moveTo>
                    <a:pt x="0" y="0"/>
                  </a:moveTo>
                  <a:lnTo>
                    <a:pt x="21577173" y="0"/>
                  </a:lnTo>
                  <a:lnTo>
                    <a:pt x="21577173" y="1144016"/>
                  </a:lnTo>
                  <a:lnTo>
                    <a:pt x="0" y="1144016"/>
                  </a:lnTo>
                  <a:close/>
                </a:path>
              </a:pathLst>
            </a:custGeom>
            <a:solidFill>
              <a:srgbClr val="FFFFFF"/>
            </a:solidFill>
            <a:ln w="9525" cap="sq">
              <a:solidFill>
                <a:srgbClr val="E2E8F0"/>
              </a:solidFill>
              <a:prstDash val="solid"/>
              <a:miter/>
            </a:ln>
          </p:spPr>
        </p:sp>
      </p:grpSp>
      <p:sp>
        <p:nvSpPr>
          <p:cNvPr id="42" name="TextBox 42"/>
          <p:cNvSpPr txBox="1"/>
          <p:nvPr/>
        </p:nvSpPr>
        <p:spPr>
          <a:xfrm>
            <a:off x="1464516" y="8818474"/>
            <a:ext cx="642633" cy="252117"/>
          </a:xfrm>
          <a:prstGeom prst="rect">
            <a:avLst/>
          </a:prstGeom>
        </p:spPr>
        <p:txBody>
          <a:bodyPr lIns="0" tIns="0" rIns="0" bIns="0" rtlCol="0" anchor="t">
            <a:spAutoFit/>
          </a:bodyPr>
          <a:lstStyle/>
          <a:p>
            <a:pPr algn="l">
              <a:lnSpc>
                <a:spcPts val="2040"/>
              </a:lnSpc>
            </a:pPr>
            <a:r>
              <a:rPr lang="en-US" sz="1700" b="1">
                <a:solidFill>
                  <a:srgbClr val="5E7CE2"/>
                </a:solidFill>
                <a:latin typeface="Segoe UI Bold"/>
                <a:ea typeface="Segoe UI Bold"/>
                <a:cs typeface="Segoe UI Bold"/>
                <a:sym typeface="Segoe UI Bold"/>
              </a:rPr>
              <a:t>Step 8</a:t>
            </a:r>
          </a:p>
        </p:txBody>
      </p:sp>
      <p:sp>
        <p:nvSpPr>
          <p:cNvPr id="43" name="TextBox 43"/>
          <p:cNvSpPr txBox="1"/>
          <p:nvPr/>
        </p:nvSpPr>
        <p:spPr>
          <a:xfrm>
            <a:off x="2566178" y="8818474"/>
            <a:ext cx="5324694" cy="252117"/>
          </a:xfrm>
          <a:prstGeom prst="rect">
            <a:avLst/>
          </a:prstGeom>
        </p:spPr>
        <p:txBody>
          <a:bodyPr lIns="0" tIns="0" rIns="0" bIns="0" rtlCol="0" anchor="t">
            <a:spAutoFit/>
          </a:bodyPr>
          <a:lstStyle/>
          <a:p>
            <a:pPr algn="l">
              <a:lnSpc>
                <a:spcPts val="2040"/>
              </a:lnSpc>
            </a:pPr>
            <a:r>
              <a:rPr lang="en-US" sz="1700" b="1">
                <a:solidFill>
                  <a:srgbClr val="19202C"/>
                </a:solidFill>
                <a:latin typeface="Segoe UI Bold"/>
                <a:ea typeface="Segoe UI Bold"/>
                <a:cs typeface="Segoe UI Bold"/>
                <a:sym typeface="Segoe UI Bold"/>
              </a:rPr>
              <a:t>Result is displayed</a:t>
            </a:r>
          </a:p>
        </p:txBody>
      </p:sp>
      <p:sp>
        <p:nvSpPr>
          <p:cNvPr id="44" name="TextBox 44"/>
          <p:cNvSpPr txBox="1"/>
          <p:nvPr/>
        </p:nvSpPr>
        <p:spPr>
          <a:xfrm>
            <a:off x="8349891" y="8818474"/>
            <a:ext cx="7435748" cy="240106"/>
          </a:xfrm>
          <a:prstGeom prst="rect">
            <a:avLst/>
          </a:prstGeom>
        </p:spPr>
        <p:txBody>
          <a:bodyPr lIns="0" tIns="0" rIns="0" bIns="0" rtlCol="0" anchor="t">
            <a:spAutoFit/>
          </a:bodyPr>
          <a:lstStyle/>
          <a:p>
            <a:pPr algn="l">
              <a:lnSpc>
                <a:spcPts val="1928"/>
              </a:lnSpc>
            </a:pPr>
            <a:r>
              <a:rPr lang="en-US" sz="1607">
                <a:solidFill>
                  <a:srgbClr val="000000"/>
                </a:solidFill>
                <a:latin typeface="Segoe UI"/>
                <a:ea typeface="Segoe UI"/>
                <a:cs typeface="Segoe UI"/>
                <a:sym typeface="Segoe UI"/>
              </a:rPr>
              <a:t>setState() triggers UI rebuild with final answer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2"/>
          <p:cNvSpPr txBox="1"/>
          <p:nvPr/>
        </p:nvSpPr>
        <p:spPr>
          <a:xfrm>
            <a:off x="1188720" y="594360"/>
            <a:ext cx="15910103" cy="731520"/>
          </a:xfrm>
          <a:prstGeom prst="rect">
            <a:avLst/>
          </a:prstGeom>
        </p:spPr>
        <p:txBody>
          <a:bodyPr lIns="0" tIns="0" rIns="0" bIns="0" rtlCol="0" anchor="t">
            <a:spAutoFit/>
          </a:bodyPr>
          <a:lstStyle/>
          <a:p>
            <a:pPr algn="l">
              <a:lnSpc>
                <a:spcPts val="7920"/>
              </a:lnSpc>
            </a:pPr>
            <a:r>
              <a:rPr lang="en-US" sz="6600" b="1">
                <a:solidFill>
                  <a:srgbClr val="19202C"/>
                </a:solidFill>
                <a:latin typeface="Segoe UI Bold"/>
                <a:ea typeface="Segoe UI Bold"/>
                <a:cs typeface="Segoe UI Bold"/>
                <a:sym typeface="Segoe UI Bold"/>
              </a:rPr>
              <a:t>Dart Programming Logic</a:t>
            </a:r>
          </a:p>
        </p:txBody>
      </p:sp>
      <p:grpSp>
        <p:nvGrpSpPr>
          <p:cNvPr id="3" name="Group 3"/>
          <p:cNvGrpSpPr/>
          <p:nvPr/>
        </p:nvGrpSpPr>
        <p:grpSpPr>
          <a:xfrm>
            <a:off x="1079421" y="1490901"/>
            <a:ext cx="3053286" cy="90630"/>
            <a:chOff x="0" y="0"/>
            <a:chExt cx="4071048" cy="120840"/>
          </a:xfrm>
        </p:grpSpPr>
        <p:sp>
          <p:nvSpPr>
            <p:cNvPr id="4" name="Freeform 4"/>
            <p:cNvSpPr/>
            <p:nvPr/>
          </p:nvSpPr>
          <p:spPr>
            <a:xfrm>
              <a:off x="0" y="0"/>
              <a:ext cx="4070985" cy="120777"/>
            </a:xfrm>
            <a:custGeom>
              <a:avLst/>
              <a:gdLst/>
              <a:ahLst/>
              <a:cxnLst/>
              <a:rect l="l" t="t" r="r" b="b"/>
              <a:pathLst>
                <a:path w="4070985" h="120777">
                  <a:moveTo>
                    <a:pt x="0" y="0"/>
                  </a:moveTo>
                  <a:lnTo>
                    <a:pt x="4070985" y="0"/>
                  </a:lnTo>
                  <a:lnTo>
                    <a:pt x="4070985" y="120777"/>
                  </a:lnTo>
                  <a:lnTo>
                    <a:pt x="0" y="120777"/>
                  </a:lnTo>
                  <a:close/>
                </a:path>
              </a:pathLst>
            </a:custGeom>
            <a:solidFill>
              <a:srgbClr val="5E7CE2"/>
            </a:solidFill>
            <a:ln w="14288" cap="sq">
              <a:solidFill>
                <a:srgbClr val="5E7CE2"/>
              </a:solidFill>
              <a:prstDash val="solid"/>
              <a:miter/>
            </a:ln>
          </p:spPr>
        </p:sp>
      </p:grpSp>
      <p:sp>
        <p:nvSpPr>
          <p:cNvPr id="5" name="TextBox 5"/>
          <p:cNvSpPr txBox="1"/>
          <p:nvPr/>
        </p:nvSpPr>
        <p:spPr>
          <a:xfrm>
            <a:off x="1188939" y="1988601"/>
            <a:ext cx="11488879" cy="314354"/>
          </a:xfrm>
          <a:prstGeom prst="rect">
            <a:avLst/>
          </a:prstGeom>
        </p:spPr>
        <p:txBody>
          <a:bodyPr lIns="0" tIns="0" rIns="0" bIns="0" rtlCol="0" anchor="t">
            <a:spAutoFit/>
          </a:bodyPr>
          <a:lstStyle/>
          <a:p>
            <a:pPr algn="l">
              <a:lnSpc>
                <a:spcPts val="2514"/>
              </a:lnSpc>
            </a:pPr>
            <a:r>
              <a:rPr lang="en-US" sz="2095" b="1">
                <a:solidFill>
                  <a:srgbClr val="5E7CE2"/>
                </a:solidFill>
                <a:latin typeface="Segoe UI Bold"/>
                <a:ea typeface="Segoe UI Bold"/>
                <a:cs typeface="Segoe UI Bold"/>
                <a:sym typeface="Segoe UI Bold"/>
              </a:rPr>
              <a:t>Example: onEqualsPressed() – operator check (excerpt)</a:t>
            </a:r>
          </a:p>
        </p:txBody>
      </p:sp>
      <p:sp>
        <p:nvSpPr>
          <p:cNvPr id="6" name="TextBox 6"/>
          <p:cNvSpPr txBox="1"/>
          <p:nvPr/>
        </p:nvSpPr>
        <p:spPr>
          <a:xfrm>
            <a:off x="1188720" y="2445830"/>
            <a:ext cx="6979641" cy="4110073"/>
          </a:xfrm>
          <a:prstGeom prst="rect">
            <a:avLst/>
          </a:prstGeom>
        </p:spPr>
        <p:txBody>
          <a:bodyPr lIns="0" tIns="0" rIns="0" bIns="0" rtlCol="0" anchor="t">
            <a:spAutoFit/>
          </a:bodyPr>
          <a:lstStyle/>
          <a:p>
            <a:pPr algn="l">
              <a:lnSpc>
                <a:spcPts val="2282"/>
              </a:lnSpc>
            </a:pPr>
            <a:r>
              <a:rPr lang="en-US" sz="1822">
                <a:solidFill>
                  <a:srgbClr val="228B22"/>
                </a:solidFill>
                <a:latin typeface="Courier New"/>
                <a:ea typeface="Courier New"/>
                <a:cs typeface="Courier New"/>
                <a:sym typeface="Courier New"/>
              </a:rPr>
              <a:t>if (operation == '+') {</a:t>
            </a:r>
          </a:p>
          <a:p>
            <a:pPr algn="l">
              <a:lnSpc>
                <a:spcPts val="2282"/>
              </a:lnSpc>
            </a:pPr>
            <a:r>
              <a:rPr lang="en-US" sz="1822">
                <a:solidFill>
                  <a:srgbClr val="228B22"/>
                </a:solidFill>
                <a:latin typeface="Courier New"/>
                <a:ea typeface="Courier New"/>
                <a:cs typeface="Courier New"/>
                <a:sym typeface="Courier New"/>
              </a:rPr>
              <a:t>  result = firstNumber + secondNumber;</a:t>
            </a:r>
          </a:p>
          <a:p>
            <a:pPr algn="l">
              <a:lnSpc>
                <a:spcPts val="2282"/>
              </a:lnSpc>
            </a:pPr>
            <a:r>
              <a:rPr lang="en-US" sz="1822">
                <a:solidFill>
                  <a:srgbClr val="228B22"/>
                </a:solidFill>
                <a:latin typeface="Courier New"/>
                <a:ea typeface="Courier New"/>
                <a:cs typeface="Courier New"/>
                <a:sym typeface="Courier New"/>
              </a:rPr>
              <a:t>} else if (operation == '−') {</a:t>
            </a:r>
          </a:p>
          <a:p>
            <a:pPr algn="l">
              <a:lnSpc>
                <a:spcPts val="2282"/>
              </a:lnSpc>
            </a:pPr>
            <a:r>
              <a:rPr lang="en-US" sz="1822">
                <a:solidFill>
                  <a:srgbClr val="228B22"/>
                </a:solidFill>
                <a:latin typeface="Courier New"/>
                <a:ea typeface="Courier New"/>
                <a:cs typeface="Courier New"/>
                <a:sym typeface="Courier New"/>
              </a:rPr>
              <a:t>  result = firstNumber - secondNumber;</a:t>
            </a:r>
          </a:p>
          <a:p>
            <a:pPr algn="l">
              <a:lnSpc>
                <a:spcPts val="2282"/>
              </a:lnSpc>
            </a:pPr>
            <a:r>
              <a:rPr lang="en-US" sz="1822">
                <a:solidFill>
                  <a:srgbClr val="228B22"/>
                </a:solidFill>
                <a:latin typeface="Courier New"/>
                <a:ea typeface="Courier New"/>
                <a:cs typeface="Courier New"/>
                <a:sym typeface="Courier New"/>
              </a:rPr>
              <a:t>} else if (operation == '×') {</a:t>
            </a:r>
          </a:p>
          <a:p>
            <a:pPr algn="l">
              <a:lnSpc>
                <a:spcPts val="2282"/>
              </a:lnSpc>
            </a:pPr>
            <a:r>
              <a:rPr lang="en-US" sz="1822">
                <a:solidFill>
                  <a:srgbClr val="228B22"/>
                </a:solidFill>
                <a:latin typeface="Courier New"/>
                <a:ea typeface="Courier New"/>
                <a:cs typeface="Courier New"/>
                <a:sym typeface="Courier New"/>
              </a:rPr>
              <a:t>  result = firstNumber * secondNumber;</a:t>
            </a:r>
          </a:p>
          <a:p>
            <a:pPr algn="l">
              <a:lnSpc>
                <a:spcPts val="2282"/>
              </a:lnSpc>
            </a:pPr>
            <a:r>
              <a:rPr lang="en-US" sz="1822">
                <a:solidFill>
                  <a:srgbClr val="228B22"/>
                </a:solidFill>
                <a:latin typeface="Courier New"/>
                <a:ea typeface="Courier New"/>
                <a:cs typeface="Courier New"/>
                <a:sym typeface="Courier New"/>
              </a:rPr>
              <a:t>} else if (operation == '÷') {</a:t>
            </a:r>
          </a:p>
          <a:p>
            <a:pPr algn="l">
              <a:lnSpc>
                <a:spcPts val="2282"/>
              </a:lnSpc>
            </a:pPr>
            <a:r>
              <a:rPr lang="en-US" sz="1822">
                <a:solidFill>
                  <a:srgbClr val="228B22"/>
                </a:solidFill>
                <a:latin typeface="Courier New"/>
                <a:ea typeface="Courier New"/>
                <a:cs typeface="Courier New"/>
                <a:sym typeface="Courier New"/>
              </a:rPr>
              <a:t>  if (secondNumber == 0) {</a:t>
            </a:r>
          </a:p>
          <a:p>
            <a:pPr algn="l">
              <a:lnSpc>
                <a:spcPts val="2282"/>
              </a:lnSpc>
            </a:pPr>
            <a:r>
              <a:rPr lang="en-US" sz="1822">
                <a:solidFill>
                  <a:srgbClr val="228B22"/>
                </a:solidFill>
                <a:latin typeface="Courier New"/>
                <a:ea typeface="Courier New"/>
                <a:cs typeface="Courier New"/>
                <a:sym typeface="Courier New"/>
              </a:rPr>
              <a:t>    display = 'Error: Div by 0';</a:t>
            </a:r>
          </a:p>
          <a:p>
            <a:pPr algn="l">
              <a:lnSpc>
                <a:spcPts val="2282"/>
              </a:lnSpc>
            </a:pPr>
            <a:r>
              <a:rPr lang="en-US" sz="1822">
                <a:solidFill>
                  <a:srgbClr val="228B22"/>
                </a:solidFill>
                <a:latin typeface="Courier New"/>
                <a:ea typeface="Courier New"/>
                <a:cs typeface="Courier New"/>
                <a:sym typeface="Courier New"/>
              </a:rPr>
              <a:t>    return;</a:t>
            </a:r>
          </a:p>
          <a:p>
            <a:pPr algn="l">
              <a:lnSpc>
                <a:spcPts val="2282"/>
              </a:lnSpc>
            </a:pPr>
            <a:r>
              <a:rPr lang="en-US" sz="1822">
                <a:solidFill>
                  <a:srgbClr val="228B22"/>
                </a:solidFill>
                <a:latin typeface="Courier New"/>
                <a:ea typeface="Courier New"/>
                <a:cs typeface="Courier New"/>
                <a:sym typeface="Courier New"/>
              </a:rPr>
              <a:t>  }</a:t>
            </a:r>
          </a:p>
          <a:p>
            <a:pPr algn="l">
              <a:lnSpc>
                <a:spcPts val="2282"/>
              </a:lnSpc>
            </a:pPr>
            <a:r>
              <a:rPr lang="en-US" sz="1822">
                <a:solidFill>
                  <a:srgbClr val="228B22"/>
                </a:solidFill>
                <a:latin typeface="Courier New"/>
                <a:ea typeface="Courier New"/>
                <a:cs typeface="Courier New"/>
                <a:sym typeface="Courier New"/>
              </a:rPr>
              <a:t>  result = firstNumber / secondNumber;</a:t>
            </a:r>
          </a:p>
          <a:p>
            <a:pPr algn="l">
              <a:lnSpc>
                <a:spcPts val="2282"/>
              </a:lnSpc>
            </a:pPr>
            <a:r>
              <a:rPr lang="en-US" sz="1822">
                <a:solidFill>
                  <a:srgbClr val="228B22"/>
                </a:solidFill>
                <a:latin typeface="Courier New"/>
                <a:ea typeface="Courier New"/>
                <a:cs typeface="Courier New"/>
                <a:sym typeface="Courier New"/>
              </a:rPr>
              <a:t>}</a:t>
            </a:r>
          </a:p>
          <a:p>
            <a:pPr algn="l">
              <a:lnSpc>
                <a:spcPts val="2282"/>
              </a:lnSpc>
            </a:pPr>
            <a:r>
              <a:rPr lang="en-US" sz="1822">
                <a:solidFill>
                  <a:srgbClr val="228B22"/>
                </a:solidFill>
                <a:latin typeface="Courier New"/>
                <a:ea typeface="Courier New"/>
                <a:cs typeface="Courier New"/>
                <a:sym typeface="Courier New"/>
              </a:rPr>
              <a:t>display = result.toString();</a:t>
            </a:r>
          </a:p>
        </p:txBody>
      </p:sp>
      <p:sp>
        <p:nvSpPr>
          <p:cNvPr id="7" name="TextBox 7"/>
          <p:cNvSpPr txBox="1"/>
          <p:nvPr/>
        </p:nvSpPr>
        <p:spPr>
          <a:xfrm>
            <a:off x="1188720" y="6874231"/>
            <a:ext cx="8071228" cy="313192"/>
          </a:xfrm>
          <a:prstGeom prst="rect">
            <a:avLst/>
          </a:prstGeom>
        </p:spPr>
        <p:txBody>
          <a:bodyPr lIns="0" tIns="0" rIns="0" bIns="0" rtlCol="0" anchor="t">
            <a:spAutoFit/>
          </a:bodyPr>
          <a:lstStyle/>
          <a:p>
            <a:pPr algn="l">
              <a:lnSpc>
                <a:spcPts val="2503"/>
              </a:lnSpc>
            </a:pPr>
            <a:r>
              <a:rPr lang="en-US" sz="2085" b="1">
                <a:solidFill>
                  <a:srgbClr val="5E7CE2"/>
                </a:solidFill>
                <a:latin typeface="Segoe UI Bold"/>
                <a:ea typeface="Segoe UI Bold"/>
                <a:cs typeface="Segoe UI Bold"/>
                <a:sym typeface="Segoe UI Bold"/>
              </a:rPr>
              <a:t>Key Logic Concepts Demonstrated:</a:t>
            </a:r>
          </a:p>
        </p:txBody>
      </p:sp>
      <p:sp>
        <p:nvSpPr>
          <p:cNvPr id="8" name="TextBox 8"/>
          <p:cNvSpPr txBox="1"/>
          <p:nvPr/>
        </p:nvSpPr>
        <p:spPr>
          <a:xfrm>
            <a:off x="1188720" y="7309895"/>
            <a:ext cx="8071228" cy="2126513"/>
          </a:xfrm>
          <a:prstGeom prst="rect">
            <a:avLst/>
          </a:prstGeom>
        </p:spPr>
        <p:txBody>
          <a:bodyPr lIns="0" tIns="0" rIns="0" bIns="0" rtlCol="0" anchor="t">
            <a:spAutoFit/>
          </a:bodyPr>
          <a:lstStyle/>
          <a:p>
            <a:pPr algn="l">
              <a:lnSpc>
                <a:spcPts val="2703"/>
              </a:lnSpc>
            </a:pPr>
            <a:r>
              <a:rPr lang="en-US" sz="1802">
                <a:solidFill>
                  <a:srgbClr val="000000"/>
                </a:solidFill>
                <a:latin typeface="Segoe UI"/>
                <a:ea typeface="Segoe UI"/>
                <a:cs typeface="Segoe UI"/>
                <a:sym typeface="Segoe UI"/>
              </a:rPr>
              <a:t>• Variables: display, firstNumber, secondNumber, operation store calculator state</a:t>
            </a:r>
          </a:p>
          <a:p>
            <a:pPr algn="l">
              <a:lnSpc>
                <a:spcPts val="2703"/>
              </a:lnSpc>
            </a:pPr>
            <a:r>
              <a:rPr lang="en-US" sz="1802">
                <a:solidFill>
                  <a:srgbClr val="000000"/>
                </a:solidFill>
                <a:latin typeface="Segoe UI"/>
                <a:ea typeface="Segoe UI"/>
                <a:cs typeface="Segoe UI"/>
                <a:sym typeface="Segoe UI"/>
              </a:rPr>
              <a:t>• Functions: Each button press calls a function to handle the input</a:t>
            </a:r>
          </a:p>
          <a:p>
            <a:pPr algn="l">
              <a:lnSpc>
                <a:spcPts val="2703"/>
              </a:lnSpc>
            </a:pPr>
            <a:r>
              <a:rPr lang="en-US" sz="1802">
                <a:solidFill>
                  <a:srgbClr val="000000"/>
                </a:solidFill>
                <a:latin typeface="Segoe UI"/>
                <a:ea typeface="Segoe UI"/>
                <a:cs typeface="Segoe UI"/>
                <a:sym typeface="Segoe UI"/>
              </a:rPr>
              <a:t>• Conditional Logic: if/else statements check which operator was selected</a:t>
            </a:r>
          </a:p>
          <a:p>
            <a:pPr algn="l">
              <a:lnSpc>
                <a:spcPts val="2703"/>
              </a:lnSpc>
            </a:pPr>
            <a:r>
              <a:rPr lang="en-US" sz="1802">
                <a:solidFill>
                  <a:srgbClr val="000000"/>
                </a:solidFill>
                <a:latin typeface="Segoe UI"/>
                <a:ea typeface="Segoe UI"/>
                <a:cs typeface="Segoe UI"/>
                <a:sym typeface="Segoe UI"/>
              </a:rPr>
              <a:t>• Arithmetic Operators: +, −, *, / perform actual calculations</a:t>
            </a:r>
          </a:p>
          <a:p>
            <a:pPr algn="l">
              <a:lnSpc>
                <a:spcPts val="2703"/>
              </a:lnSpc>
            </a:pPr>
            <a:r>
              <a:rPr lang="en-US" sz="1802">
                <a:solidFill>
                  <a:srgbClr val="000000"/>
                </a:solidFill>
                <a:latin typeface="Segoe UI"/>
                <a:ea typeface="Segoe UI"/>
                <a:cs typeface="Segoe UI"/>
                <a:sym typeface="Segoe UI"/>
              </a:rPr>
              <a:t>• Type Conversion: toString() converts number result to text for display</a:t>
            </a:r>
          </a:p>
          <a:p>
            <a:pPr algn="l">
              <a:lnSpc>
                <a:spcPts val="2703"/>
              </a:lnSpc>
            </a:pPr>
            <a:r>
              <a:rPr lang="en-US" sz="1802">
                <a:solidFill>
                  <a:srgbClr val="000000"/>
                </a:solidFill>
                <a:latin typeface="Segoe UI"/>
                <a:ea typeface="Segoe UI"/>
                <a:cs typeface="Segoe UI"/>
                <a:sym typeface="Segoe UI"/>
              </a:rPr>
              <a:t>• setState(): Notifies Flutter to rebuild UI with new display value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2"/>
          <p:cNvSpPr txBox="1"/>
          <p:nvPr/>
        </p:nvSpPr>
        <p:spPr>
          <a:xfrm>
            <a:off x="1188720" y="594360"/>
            <a:ext cx="15910103" cy="731520"/>
          </a:xfrm>
          <a:prstGeom prst="rect">
            <a:avLst/>
          </a:prstGeom>
        </p:spPr>
        <p:txBody>
          <a:bodyPr lIns="0" tIns="0" rIns="0" bIns="0" rtlCol="0" anchor="t">
            <a:spAutoFit/>
          </a:bodyPr>
          <a:lstStyle/>
          <a:p>
            <a:pPr algn="l">
              <a:lnSpc>
                <a:spcPts val="7920"/>
              </a:lnSpc>
            </a:pPr>
            <a:r>
              <a:rPr lang="en-US" sz="6600" b="1">
                <a:solidFill>
                  <a:srgbClr val="19202C"/>
                </a:solidFill>
                <a:latin typeface="Segoe UI Bold"/>
                <a:ea typeface="Segoe UI Bold"/>
                <a:cs typeface="Segoe UI Bold"/>
                <a:sym typeface="Segoe UI Bold"/>
              </a:rPr>
              <a:t>Features &amp; Learning Outcomes</a:t>
            </a:r>
          </a:p>
        </p:txBody>
      </p:sp>
      <p:grpSp>
        <p:nvGrpSpPr>
          <p:cNvPr id="3" name="Group 3"/>
          <p:cNvGrpSpPr/>
          <p:nvPr/>
        </p:nvGrpSpPr>
        <p:grpSpPr>
          <a:xfrm>
            <a:off x="1079421" y="1490901"/>
            <a:ext cx="3464766" cy="90630"/>
            <a:chOff x="0" y="0"/>
            <a:chExt cx="4619688" cy="120840"/>
          </a:xfrm>
        </p:grpSpPr>
        <p:sp>
          <p:nvSpPr>
            <p:cNvPr id="4" name="Freeform 4"/>
            <p:cNvSpPr/>
            <p:nvPr/>
          </p:nvSpPr>
          <p:spPr>
            <a:xfrm>
              <a:off x="0" y="0"/>
              <a:ext cx="4619625" cy="120777"/>
            </a:xfrm>
            <a:custGeom>
              <a:avLst/>
              <a:gdLst/>
              <a:ahLst/>
              <a:cxnLst/>
              <a:rect l="l" t="t" r="r" b="b"/>
              <a:pathLst>
                <a:path w="4619625" h="120777">
                  <a:moveTo>
                    <a:pt x="0" y="0"/>
                  </a:moveTo>
                  <a:lnTo>
                    <a:pt x="4619625" y="0"/>
                  </a:lnTo>
                  <a:lnTo>
                    <a:pt x="4619625" y="120777"/>
                  </a:lnTo>
                  <a:lnTo>
                    <a:pt x="0" y="120777"/>
                  </a:lnTo>
                  <a:close/>
                </a:path>
              </a:pathLst>
            </a:custGeom>
            <a:solidFill>
              <a:srgbClr val="5E7CE2"/>
            </a:solidFill>
            <a:ln w="14288" cap="sq">
              <a:solidFill>
                <a:srgbClr val="5E7CE2"/>
              </a:solidFill>
              <a:prstDash val="solid"/>
              <a:miter/>
            </a:ln>
          </p:spPr>
        </p:sp>
      </p:grpSp>
      <p:sp>
        <p:nvSpPr>
          <p:cNvPr id="5" name="TextBox 5"/>
          <p:cNvSpPr txBox="1"/>
          <p:nvPr/>
        </p:nvSpPr>
        <p:spPr>
          <a:xfrm>
            <a:off x="1188720" y="2834802"/>
            <a:ext cx="4731610" cy="705526"/>
          </a:xfrm>
          <a:prstGeom prst="rect">
            <a:avLst/>
          </a:prstGeom>
        </p:spPr>
        <p:txBody>
          <a:bodyPr lIns="0" tIns="0" rIns="0" bIns="0" rtlCol="0" anchor="t">
            <a:spAutoFit/>
          </a:bodyPr>
          <a:lstStyle/>
          <a:p>
            <a:pPr algn="l">
              <a:lnSpc>
                <a:spcPts val="4092"/>
              </a:lnSpc>
            </a:pPr>
            <a:r>
              <a:rPr lang="en-US" sz="3411" b="1">
                <a:solidFill>
                  <a:srgbClr val="10B981"/>
                </a:solidFill>
                <a:latin typeface="Calibri (MS) Bold"/>
                <a:ea typeface="Calibri (MS) Bold"/>
                <a:cs typeface="Calibri (MS) Bold"/>
                <a:sym typeface="Calibri (MS) Bold"/>
              </a:rPr>
              <a:t>✓ Implemented Features</a:t>
            </a:r>
          </a:p>
        </p:txBody>
      </p:sp>
      <p:sp>
        <p:nvSpPr>
          <p:cNvPr id="6" name="TextBox 6"/>
          <p:cNvSpPr txBox="1"/>
          <p:nvPr/>
        </p:nvSpPr>
        <p:spPr>
          <a:xfrm>
            <a:off x="1188720" y="4074719"/>
            <a:ext cx="7192537" cy="3177445"/>
          </a:xfrm>
          <a:prstGeom prst="rect">
            <a:avLst/>
          </a:prstGeom>
        </p:spPr>
        <p:txBody>
          <a:bodyPr lIns="0" tIns="0" rIns="0" bIns="0" rtlCol="0" anchor="t">
            <a:spAutoFit/>
          </a:bodyPr>
          <a:lstStyle/>
          <a:p>
            <a:pPr algn="l">
              <a:lnSpc>
                <a:spcPts val="3240"/>
              </a:lnSpc>
            </a:pPr>
            <a:r>
              <a:rPr lang="en-US" sz="2700">
                <a:solidFill>
                  <a:srgbClr val="000000"/>
                </a:solidFill>
                <a:latin typeface="Segoe UI"/>
                <a:ea typeface="Segoe UI"/>
                <a:cs typeface="Segoe UI"/>
                <a:sym typeface="Segoe UI"/>
              </a:rPr>
              <a:t>• Simple, intuitive calculator interface</a:t>
            </a:r>
          </a:p>
          <a:p>
            <a:pPr algn="l">
              <a:lnSpc>
                <a:spcPts val="3240"/>
              </a:lnSpc>
            </a:pPr>
            <a:r>
              <a:rPr lang="en-US" sz="2700">
                <a:solidFill>
                  <a:srgbClr val="000000"/>
                </a:solidFill>
                <a:latin typeface="Segoe UI"/>
                <a:ea typeface="Segoe UI"/>
                <a:cs typeface="Segoe UI"/>
                <a:sym typeface="Segoe UI"/>
              </a:rPr>
              <a:t>• Real-time display updates as users type</a:t>
            </a:r>
          </a:p>
          <a:p>
            <a:pPr algn="l">
              <a:lnSpc>
                <a:spcPts val="3240"/>
              </a:lnSpc>
            </a:pPr>
            <a:r>
              <a:rPr lang="en-US" sz="2700">
                <a:solidFill>
                  <a:srgbClr val="000000"/>
                </a:solidFill>
                <a:latin typeface="Segoe UI"/>
                <a:ea typeface="Segoe UI"/>
                <a:cs typeface="Segoe UI"/>
                <a:sym typeface="Segoe UI"/>
              </a:rPr>
              <a:t>• Four arithmetic operations (+, −, ×, ÷)</a:t>
            </a:r>
          </a:p>
          <a:p>
            <a:pPr algn="l">
              <a:lnSpc>
                <a:spcPts val="3240"/>
              </a:lnSpc>
            </a:pPr>
            <a:r>
              <a:rPr lang="en-US" sz="2700">
                <a:solidFill>
                  <a:srgbClr val="000000"/>
                </a:solidFill>
                <a:latin typeface="Segoe UI"/>
                <a:ea typeface="Segoe UI"/>
                <a:cs typeface="Segoe UI"/>
                <a:sym typeface="Segoe UI"/>
              </a:rPr>
              <a:t>• Clear (AC) button to reset calculator</a:t>
            </a:r>
          </a:p>
          <a:p>
            <a:pPr algn="l">
              <a:lnSpc>
                <a:spcPts val="3240"/>
              </a:lnSpc>
            </a:pPr>
            <a:r>
              <a:rPr lang="en-US" sz="2700">
                <a:solidFill>
                  <a:srgbClr val="000000"/>
                </a:solidFill>
                <a:latin typeface="Segoe UI"/>
                <a:ea typeface="Segoe UI"/>
                <a:cs typeface="Segoe UI"/>
                <a:sym typeface="Segoe UI"/>
              </a:rPr>
              <a:t>• Decimal point support for precise calculations</a:t>
            </a:r>
          </a:p>
          <a:p>
            <a:pPr algn="l">
              <a:lnSpc>
                <a:spcPts val="3240"/>
              </a:lnSpc>
            </a:pPr>
            <a:r>
              <a:rPr lang="en-US" sz="2700">
                <a:solidFill>
                  <a:srgbClr val="000000"/>
                </a:solidFill>
                <a:latin typeface="Segoe UI"/>
                <a:ea typeface="Segoe UI"/>
                <a:cs typeface="Segoe UI"/>
                <a:sym typeface="Segoe UI"/>
              </a:rPr>
              <a:t>• Equals button to compute results</a:t>
            </a:r>
          </a:p>
          <a:p>
            <a:pPr algn="l">
              <a:lnSpc>
                <a:spcPts val="3240"/>
              </a:lnSpc>
            </a:pPr>
            <a:r>
              <a:rPr lang="en-US" sz="2700">
                <a:solidFill>
                  <a:srgbClr val="000000"/>
                </a:solidFill>
                <a:latin typeface="Segoe UI"/>
                <a:ea typeface="Segoe UI"/>
                <a:cs typeface="Segoe UI"/>
                <a:sym typeface="Segoe UI"/>
              </a:rPr>
              <a:t>• Division by zero error handling</a:t>
            </a:r>
          </a:p>
          <a:p>
            <a:pPr algn="l">
              <a:lnSpc>
                <a:spcPts val="3240"/>
              </a:lnSpc>
            </a:pPr>
            <a:r>
              <a:rPr lang="en-US" sz="2700">
                <a:solidFill>
                  <a:srgbClr val="000000"/>
                </a:solidFill>
                <a:latin typeface="Segoe UI"/>
                <a:ea typeface="Segoe UI"/>
                <a:cs typeface="Segoe UI"/>
                <a:sym typeface="Segoe UI"/>
              </a:rPr>
              <a:t>• Backspace (⌫) and percent (%) buttons</a:t>
            </a:r>
          </a:p>
        </p:txBody>
      </p:sp>
      <p:sp>
        <p:nvSpPr>
          <p:cNvPr id="7" name="TextBox 7"/>
          <p:cNvSpPr txBox="1"/>
          <p:nvPr/>
        </p:nvSpPr>
        <p:spPr>
          <a:xfrm>
            <a:off x="9692640" y="2834802"/>
            <a:ext cx="6389875" cy="705526"/>
          </a:xfrm>
          <a:prstGeom prst="rect">
            <a:avLst/>
          </a:prstGeom>
        </p:spPr>
        <p:txBody>
          <a:bodyPr lIns="0" tIns="0" rIns="0" bIns="0" rtlCol="0" anchor="t">
            <a:spAutoFit/>
          </a:bodyPr>
          <a:lstStyle/>
          <a:p>
            <a:pPr algn="l">
              <a:lnSpc>
                <a:spcPts val="4092"/>
              </a:lnSpc>
            </a:pPr>
            <a:r>
              <a:rPr lang="en-US" sz="3411" b="1">
                <a:solidFill>
                  <a:srgbClr val="10B981"/>
                </a:solidFill>
                <a:latin typeface="Calibri (MS) Bold"/>
                <a:ea typeface="Calibri (MS) Bold"/>
                <a:cs typeface="Calibri (MS) Bold"/>
                <a:sym typeface="Calibri (MS) Bold"/>
              </a:rPr>
              <a:t>✓ Learning Outcomes</a:t>
            </a:r>
          </a:p>
        </p:txBody>
      </p:sp>
      <p:sp>
        <p:nvSpPr>
          <p:cNvPr id="8" name="TextBox 8"/>
          <p:cNvSpPr txBox="1"/>
          <p:nvPr/>
        </p:nvSpPr>
        <p:spPr>
          <a:xfrm>
            <a:off x="9692640" y="4074719"/>
            <a:ext cx="6389875" cy="3177445"/>
          </a:xfrm>
          <a:prstGeom prst="rect">
            <a:avLst/>
          </a:prstGeom>
        </p:spPr>
        <p:txBody>
          <a:bodyPr lIns="0" tIns="0" rIns="0" bIns="0" rtlCol="0" anchor="t">
            <a:spAutoFit/>
          </a:bodyPr>
          <a:lstStyle/>
          <a:p>
            <a:pPr algn="l">
              <a:lnSpc>
                <a:spcPts val="3240"/>
              </a:lnSpc>
            </a:pPr>
            <a:r>
              <a:rPr lang="en-US" sz="2700">
                <a:solidFill>
                  <a:srgbClr val="000000"/>
                </a:solidFill>
                <a:latin typeface="Segoe UI"/>
                <a:ea typeface="Segoe UI"/>
                <a:cs typeface="Segoe UI"/>
                <a:sym typeface="Segoe UI"/>
              </a:rPr>
              <a:t>• Dart syntax and language fundamentals</a:t>
            </a:r>
          </a:p>
          <a:p>
            <a:pPr algn="l">
              <a:lnSpc>
                <a:spcPts val="3240"/>
              </a:lnSpc>
            </a:pPr>
            <a:r>
              <a:rPr lang="en-US" sz="2700">
                <a:solidFill>
                  <a:srgbClr val="000000"/>
                </a:solidFill>
                <a:latin typeface="Segoe UI"/>
                <a:ea typeface="Segoe UI"/>
                <a:cs typeface="Segoe UI"/>
                <a:sym typeface="Segoe UI"/>
              </a:rPr>
              <a:t>• Flutter widget system and composition</a:t>
            </a:r>
          </a:p>
          <a:p>
            <a:pPr algn="l">
              <a:lnSpc>
                <a:spcPts val="3240"/>
              </a:lnSpc>
            </a:pPr>
            <a:r>
              <a:rPr lang="en-US" sz="2700">
                <a:solidFill>
                  <a:srgbClr val="000000"/>
                </a:solidFill>
                <a:latin typeface="Segoe UI"/>
                <a:ea typeface="Segoe UI"/>
                <a:cs typeface="Segoe UI"/>
                <a:sym typeface="Segoe UI"/>
              </a:rPr>
              <a:t>• Event handling and user interaction</a:t>
            </a:r>
          </a:p>
          <a:p>
            <a:pPr algn="l">
              <a:lnSpc>
                <a:spcPts val="3240"/>
              </a:lnSpc>
            </a:pPr>
            <a:r>
              <a:rPr lang="en-US" sz="2700">
                <a:solidFill>
                  <a:srgbClr val="000000"/>
                </a:solidFill>
                <a:latin typeface="Segoe UI"/>
                <a:ea typeface="Segoe UI"/>
                <a:cs typeface="Segoe UI"/>
                <a:sym typeface="Segoe UI"/>
              </a:rPr>
              <a:t>• State management with setState()</a:t>
            </a:r>
          </a:p>
          <a:p>
            <a:pPr algn="l">
              <a:lnSpc>
                <a:spcPts val="3240"/>
              </a:lnSpc>
            </a:pPr>
            <a:r>
              <a:rPr lang="en-US" sz="2700">
                <a:solidFill>
                  <a:srgbClr val="000000"/>
                </a:solidFill>
                <a:latin typeface="Segoe UI"/>
                <a:ea typeface="Segoe UI"/>
                <a:cs typeface="Segoe UI"/>
                <a:sym typeface="Segoe UI"/>
              </a:rPr>
              <a:t>• UI layout using Rows and Columns</a:t>
            </a:r>
          </a:p>
          <a:p>
            <a:pPr algn="l">
              <a:lnSpc>
                <a:spcPts val="3240"/>
              </a:lnSpc>
            </a:pPr>
            <a:r>
              <a:rPr lang="en-US" sz="2700">
                <a:solidFill>
                  <a:srgbClr val="000000"/>
                </a:solidFill>
                <a:latin typeface="Segoe UI"/>
                <a:ea typeface="Segoe UI"/>
                <a:cs typeface="Segoe UI"/>
                <a:sym typeface="Segoe UI"/>
              </a:rPr>
              <a:t>• Reusable button helper (buildButton)</a:t>
            </a:r>
          </a:p>
          <a:p>
            <a:pPr algn="l">
              <a:lnSpc>
                <a:spcPts val="3240"/>
              </a:lnSpc>
            </a:pPr>
            <a:r>
              <a:rPr lang="en-US" sz="2700">
                <a:solidFill>
                  <a:srgbClr val="000000"/>
                </a:solidFill>
                <a:latin typeface="Segoe UI"/>
                <a:ea typeface="Segoe UI"/>
                <a:cs typeface="Segoe UI"/>
                <a:sym typeface="Segoe UI"/>
              </a:rPr>
              <a:t>• Conditional logic implementation</a:t>
            </a:r>
          </a:p>
          <a:p>
            <a:pPr algn="l">
              <a:lnSpc>
                <a:spcPts val="3240"/>
              </a:lnSpc>
            </a:pPr>
            <a:r>
              <a:rPr lang="en-US" sz="2700">
                <a:solidFill>
                  <a:srgbClr val="000000"/>
                </a:solidFill>
                <a:latin typeface="Segoe UI"/>
                <a:ea typeface="Segoe UI"/>
                <a:cs typeface="Segoe UI"/>
                <a:sym typeface="Segoe UI"/>
              </a:rPr>
              <a:t>• Mobile app development experience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2"/>
          <p:cNvSpPr txBox="1"/>
          <p:nvPr/>
        </p:nvSpPr>
        <p:spPr>
          <a:xfrm>
            <a:off x="1188720" y="594360"/>
            <a:ext cx="15910103" cy="731520"/>
          </a:xfrm>
          <a:prstGeom prst="rect">
            <a:avLst/>
          </a:prstGeom>
        </p:spPr>
        <p:txBody>
          <a:bodyPr lIns="0" tIns="0" rIns="0" bIns="0" rtlCol="0" anchor="t">
            <a:spAutoFit/>
          </a:bodyPr>
          <a:lstStyle/>
          <a:p>
            <a:pPr algn="l">
              <a:lnSpc>
                <a:spcPts val="7920"/>
              </a:lnSpc>
            </a:pPr>
            <a:r>
              <a:rPr lang="en-US" sz="6600" b="1">
                <a:solidFill>
                  <a:srgbClr val="19202C"/>
                </a:solidFill>
                <a:latin typeface="Segoe UI Bold"/>
                <a:ea typeface="Segoe UI Bold"/>
                <a:cs typeface="Segoe UI Bold"/>
                <a:sym typeface="Segoe UI Bold"/>
              </a:rPr>
              <a:t>Conclusion &amp; Key Takeaways</a:t>
            </a:r>
          </a:p>
        </p:txBody>
      </p:sp>
      <p:grpSp>
        <p:nvGrpSpPr>
          <p:cNvPr id="3" name="Group 3"/>
          <p:cNvGrpSpPr/>
          <p:nvPr/>
        </p:nvGrpSpPr>
        <p:grpSpPr>
          <a:xfrm>
            <a:off x="1079421" y="1490901"/>
            <a:ext cx="3464766" cy="90630"/>
            <a:chOff x="0" y="0"/>
            <a:chExt cx="4619688" cy="120840"/>
          </a:xfrm>
        </p:grpSpPr>
        <p:sp>
          <p:nvSpPr>
            <p:cNvPr id="4" name="Freeform 4"/>
            <p:cNvSpPr/>
            <p:nvPr/>
          </p:nvSpPr>
          <p:spPr>
            <a:xfrm>
              <a:off x="0" y="0"/>
              <a:ext cx="4619625" cy="120777"/>
            </a:xfrm>
            <a:custGeom>
              <a:avLst/>
              <a:gdLst/>
              <a:ahLst/>
              <a:cxnLst/>
              <a:rect l="l" t="t" r="r" b="b"/>
              <a:pathLst>
                <a:path w="4619625" h="120777">
                  <a:moveTo>
                    <a:pt x="0" y="0"/>
                  </a:moveTo>
                  <a:lnTo>
                    <a:pt x="4619625" y="0"/>
                  </a:lnTo>
                  <a:lnTo>
                    <a:pt x="4619625" y="120777"/>
                  </a:lnTo>
                  <a:lnTo>
                    <a:pt x="0" y="120777"/>
                  </a:lnTo>
                  <a:close/>
                </a:path>
              </a:pathLst>
            </a:custGeom>
            <a:solidFill>
              <a:srgbClr val="5E7CE2"/>
            </a:solidFill>
            <a:ln w="14288" cap="sq">
              <a:solidFill>
                <a:srgbClr val="5E7CE2"/>
              </a:solidFill>
              <a:prstDash val="solid"/>
              <a:miter/>
            </a:ln>
          </p:spPr>
        </p:sp>
      </p:grpSp>
      <p:sp>
        <p:nvSpPr>
          <p:cNvPr id="5" name="TextBox 5"/>
          <p:cNvSpPr txBox="1"/>
          <p:nvPr/>
        </p:nvSpPr>
        <p:spPr>
          <a:xfrm>
            <a:off x="1188720" y="2007499"/>
            <a:ext cx="16870166" cy="365493"/>
          </a:xfrm>
          <a:prstGeom prst="rect">
            <a:avLst/>
          </a:prstGeom>
        </p:spPr>
        <p:txBody>
          <a:bodyPr lIns="0" tIns="0" rIns="0" bIns="0" rtlCol="0" anchor="t">
            <a:spAutoFit/>
          </a:bodyPr>
          <a:lstStyle/>
          <a:p>
            <a:pPr algn="l">
              <a:lnSpc>
                <a:spcPts val="2959"/>
              </a:lnSpc>
            </a:pPr>
            <a:r>
              <a:rPr lang="en-US" sz="2466" b="1">
                <a:solidFill>
                  <a:srgbClr val="5E7CE2"/>
                </a:solidFill>
                <a:latin typeface="Segoe UI Bold"/>
                <a:ea typeface="Segoe UI Bold"/>
                <a:cs typeface="Segoe UI Bold"/>
                <a:sym typeface="Segoe UI Bold"/>
              </a:rPr>
              <a:t>Project Summary</a:t>
            </a:r>
          </a:p>
        </p:txBody>
      </p:sp>
      <p:sp>
        <p:nvSpPr>
          <p:cNvPr id="6" name="TextBox 6"/>
          <p:cNvSpPr txBox="1"/>
          <p:nvPr/>
        </p:nvSpPr>
        <p:spPr>
          <a:xfrm>
            <a:off x="1188720" y="2465375"/>
            <a:ext cx="16870166" cy="1724673"/>
          </a:xfrm>
          <a:prstGeom prst="rect">
            <a:avLst/>
          </a:prstGeom>
        </p:spPr>
        <p:txBody>
          <a:bodyPr lIns="0" tIns="0" rIns="0" bIns="0" rtlCol="0" anchor="t">
            <a:spAutoFit/>
          </a:bodyPr>
          <a:lstStyle/>
          <a:p>
            <a:pPr algn="l">
              <a:lnSpc>
                <a:spcPts val="3206"/>
              </a:lnSpc>
            </a:pPr>
            <a:r>
              <a:rPr lang="en-US" sz="2054">
                <a:solidFill>
                  <a:srgbClr val="000000"/>
                </a:solidFill>
                <a:latin typeface="Segoe UI"/>
                <a:ea typeface="Segoe UI"/>
                <a:cs typeface="Segoe UI"/>
                <a:sym typeface="Segoe UI"/>
              </a:rPr>
              <a:t>The Simple Calculator App successfully demonstrates how Flutter and Dart work together to create interactive mobile applications. Through building this project, we implemented fundamental programming concepts including variables for data storage, operators for calculations, conditionals for decision-making, and state management for dynamic user interfaces. This calculator proves that well-designed applications require careful consideration of UI layout, proper error handling, and understanding of how modern frameworks manage reactive updates.</a:t>
            </a:r>
          </a:p>
        </p:txBody>
      </p:sp>
      <p:sp>
        <p:nvSpPr>
          <p:cNvPr id="7" name="TextBox 7"/>
          <p:cNvSpPr txBox="1"/>
          <p:nvPr/>
        </p:nvSpPr>
        <p:spPr>
          <a:xfrm>
            <a:off x="1188720" y="4621435"/>
            <a:ext cx="9998802" cy="365493"/>
          </a:xfrm>
          <a:prstGeom prst="rect">
            <a:avLst/>
          </a:prstGeom>
        </p:spPr>
        <p:txBody>
          <a:bodyPr lIns="0" tIns="0" rIns="0" bIns="0" rtlCol="0" anchor="t">
            <a:spAutoFit/>
          </a:bodyPr>
          <a:lstStyle/>
          <a:p>
            <a:pPr algn="l">
              <a:lnSpc>
                <a:spcPts val="2959"/>
              </a:lnSpc>
            </a:pPr>
            <a:r>
              <a:rPr lang="en-US" sz="2466" b="1">
                <a:solidFill>
                  <a:srgbClr val="5E7CE2"/>
                </a:solidFill>
                <a:latin typeface="Segoe UI Bold"/>
                <a:ea typeface="Segoe UI Bold"/>
                <a:cs typeface="Segoe UI Bold"/>
                <a:sym typeface="Segoe UI Bold"/>
              </a:rPr>
              <a:t>Key Takeaways &amp; Future Implications</a:t>
            </a:r>
          </a:p>
        </p:txBody>
      </p:sp>
      <p:sp>
        <p:nvSpPr>
          <p:cNvPr id="8" name="TextBox 8"/>
          <p:cNvSpPr txBox="1"/>
          <p:nvPr/>
        </p:nvSpPr>
        <p:spPr>
          <a:xfrm>
            <a:off x="1188720" y="5165026"/>
            <a:ext cx="9998802" cy="427587"/>
          </a:xfrm>
          <a:prstGeom prst="rect">
            <a:avLst/>
          </a:prstGeom>
        </p:spPr>
        <p:txBody>
          <a:bodyPr lIns="0" tIns="0" rIns="0" bIns="0" rtlCol="0" anchor="t">
            <a:spAutoFit/>
          </a:bodyPr>
          <a:lstStyle/>
          <a:p>
            <a:pPr algn="l">
              <a:lnSpc>
                <a:spcPts val="2465"/>
              </a:lnSpc>
            </a:pPr>
            <a:r>
              <a:rPr lang="en-US" sz="2054" b="1">
                <a:solidFill>
                  <a:srgbClr val="5E7CE2"/>
                </a:solidFill>
                <a:latin typeface="Calibri (MS) Bold"/>
                <a:ea typeface="Calibri (MS) Bold"/>
                <a:cs typeface="Calibri (MS) Bold"/>
                <a:sym typeface="Calibri (MS) Bold"/>
              </a:rPr>
              <a:t>➜ Cross-Platform Development</a:t>
            </a:r>
          </a:p>
        </p:txBody>
      </p:sp>
      <p:sp>
        <p:nvSpPr>
          <p:cNvPr id="9" name="TextBox 9"/>
          <p:cNvSpPr txBox="1"/>
          <p:nvPr/>
        </p:nvSpPr>
        <p:spPr>
          <a:xfrm>
            <a:off x="1447314" y="5786838"/>
            <a:ext cx="9366961" cy="261071"/>
          </a:xfrm>
          <a:prstGeom prst="rect">
            <a:avLst/>
          </a:prstGeom>
        </p:spPr>
        <p:txBody>
          <a:bodyPr lIns="0" tIns="0" rIns="0" bIns="0" rtlCol="0" anchor="t">
            <a:spAutoFit/>
          </a:bodyPr>
          <a:lstStyle/>
          <a:p>
            <a:pPr algn="l">
              <a:lnSpc>
                <a:spcPts val="2095"/>
              </a:lnSpc>
            </a:pPr>
            <a:r>
              <a:rPr lang="en-US" sz="1746">
                <a:solidFill>
                  <a:srgbClr val="000000"/>
                </a:solidFill>
                <a:latin typeface="Segoe UI"/>
                <a:ea typeface="Segoe UI"/>
                <a:cs typeface="Segoe UI"/>
                <a:sym typeface="Segoe UI"/>
              </a:rPr>
              <a:t>Flutter enables single codebase deployment to iOS, Android, web, and desktop platforms</a:t>
            </a:r>
          </a:p>
        </p:txBody>
      </p:sp>
      <p:sp>
        <p:nvSpPr>
          <p:cNvPr id="10" name="TextBox 10"/>
          <p:cNvSpPr txBox="1"/>
          <p:nvPr/>
        </p:nvSpPr>
        <p:spPr>
          <a:xfrm>
            <a:off x="1188720" y="6228883"/>
            <a:ext cx="9998802" cy="427587"/>
          </a:xfrm>
          <a:prstGeom prst="rect">
            <a:avLst/>
          </a:prstGeom>
        </p:spPr>
        <p:txBody>
          <a:bodyPr lIns="0" tIns="0" rIns="0" bIns="0" rtlCol="0" anchor="t">
            <a:spAutoFit/>
          </a:bodyPr>
          <a:lstStyle/>
          <a:p>
            <a:pPr algn="l">
              <a:lnSpc>
                <a:spcPts val="2465"/>
              </a:lnSpc>
            </a:pPr>
            <a:r>
              <a:rPr lang="en-US" sz="2054" b="1">
                <a:solidFill>
                  <a:srgbClr val="5E7CE2"/>
                </a:solidFill>
                <a:latin typeface="Calibri (MS) Bold"/>
                <a:ea typeface="Calibri (MS) Bold"/>
                <a:cs typeface="Calibri (MS) Bold"/>
                <a:sym typeface="Calibri (MS) Bold"/>
              </a:rPr>
              <a:t>➜ Modern Language Design</a:t>
            </a:r>
          </a:p>
        </p:txBody>
      </p:sp>
      <p:sp>
        <p:nvSpPr>
          <p:cNvPr id="11" name="TextBox 11"/>
          <p:cNvSpPr txBox="1"/>
          <p:nvPr/>
        </p:nvSpPr>
        <p:spPr>
          <a:xfrm>
            <a:off x="1447314" y="6850713"/>
            <a:ext cx="9366961" cy="261071"/>
          </a:xfrm>
          <a:prstGeom prst="rect">
            <a:avLst/>
          </a:prstGeom>
        </p:spPr>
        <p:txBody>
          <a:bodyPr lIns="0" tIns="0" rIns="0" bIns="0" rtlCol="0" anchor="t">
            <a:spAutoFit/>
          </a:bodyPr>
          <a:lstStyle/>
          <a:p>
            <a:pPr algn="l">
              <a:lnSpc>
                <a:spcPts val="2095"/>
              </a:lnSpc>
            </a:pPr>
            <a:r>
              <a:rPr lang="en-US" sz="1746">
                <a:solidFill>
                  <a:srgbClr val="000000"/>
                </a:solidFill>
                <a:latin typeface="Segoe UI"/>
                <a:ea typeface="Segoe UI"/>
                <a:cs typeface="Segoe UI"/>
                <a:sym typeface="Segoe UI"/>
              </a:rPr>
              <a:t>Dart provides strong typing, null safety, excellent support for OOP and functional programming</a:t>
            </a:r>
          </a:p>
        </p:txBody>
      </p:sp>
      <p:sp>
        <p:nvSpPr>
          <p:cNvPr id="12" name="TextBox 12"/>
          <p:cNvSpPr txBox="1"/>
          <p:nvPr/>
        </p:nvSpPr>
        <p:spPr>
          <a:xfrm>
            <a:off x="1188720" y="7302017"/>
            <a:ext cx="9998802" cy="427587"/>
          </a:xfrm>
          <a:prstGeom prst="rect">
            <a:avLst/>
          </a:prstGeom>
        </p:spPr>
        <p:txBody>
          <a:bodyPr lIns="0" tIns="0" rIns="0" bIns="0" rtlCol="0" anchor="t">
            <a:spAutoFit/>
          </a:bodyPr>
          <a:lstStyle/>
          <a:p>
            <a:pPr algn="l">
              <a:lnSpc>
                <a:spcPts val="2465"/>
              </a:lnSpc>
            </a:pPr>
            <a:r>
              <a:rPr lang="en-US" sz="2054" b="1">
                <a:solidFill>
                  <a:srgbClr val="5E7CE2"/>
                </a:solidFill>
                <a:latin typeface="Calibri (MS) Bold"/>
                <a:ea typeface="Calibri (MS) Bold"/>
                <a:cs typeface="Calibri (MS) Bold"/>
                <a:sym typeface="Calibri (MS) Bold"/>
              </a:rPr>
              <a:t>➜ Reactive Architecture</a:t>
            </a:r>
          </a:p>
        </p:txBody>
      </p:sp>
      <p:sp>
        <p:nvSpPr>
          <p:cNvPr id="13" name="TextBox 13"/>
          <p:cNvSpPr txBox="1"/>
          <p:nvPr/>
        </p:nvSpPr>
        <p:spPr>
          <a:xfrm>
            <a:off x="1447314" y="7923838"/>
            <a:ext cx="9366961" cy="261071"/>
          </a:xfrm>
          <a:prstGeom prst="rect">
            <a:avLst/>
          </a:prstGeom>
        </p:spPr>
        <p:txBody>
          <a:bodyPr lIns="0" tIns="0" rIns="0" bIns="0" rtlCol="0" anchor="t">
            <a:spAutoFit/>
          </a:bodyPr>
          <a:lstStyle/>
          <a:p>
            <a:pPr algn="l">
              <a:lnSpc>
                <a:spcPts val="2095"/>
              </a:lnSpc>
            </a:pPr>
            <a:r>
              <a:rPr lang="en-US" sz="1746">
                <a:solidFill>
                  <a:srgbClr val="000000"/>
                </a:solidFill>
                <a:latin typeface="Segoe UI"/>
                <a:ea typeface="Segoe UI"/>
                <a:cs typeface="Segoe UI"/>
                <a:sym typeface="Segoe UI"/>
              </a:rPr>
              <a:t>State management through setState() is central to building responsive, interactive applications</a:t>
            </a:r>
          </a:p>
        </p:txBody>
      </p:sp>
      <p:sp>
        <p:nvSpPr>
          <p:cNvPr id="14" name="TextBox 14"/>
          <p:cNvSpPr txBox="1"/>
          <p:nvPr/>
        </p:nvSpPr>
        <p:spPr>
          <a:xfrm>
            <a:off x="1188720" y="8375409"/>
            <a:ext cx="9998802" cy="427587"/>
          </a:xfrm>
          <a:prstGeom prst="rect">
            <a:avLst/>
          </a:prstGeom>
        </p:spPr>
        <p:txBody>
          <a:bodyPr lIns="0" tIns="0" rIns="0" bIns="0" rtlCol="0" anchor="t">
            <a:spAutoFit/>
          </a:bodyPr>
          <a:lstStyle/>
          <a:p>
            <a:pPr algn="l">
              <a:lnSpc>
                <a:spcPts val="2465"/>
              </a:lnSpc>
            </a:pPr>
            <a:r>
              <a:rPr lang="en-US" sz="2054" b="1">
                <a:solidFill>
                  <a:srgbClr val="5E7CE2"/>
                </a:solidFill>
                <a:latin typeface="Calibri (MS) Bold"/>
                <a:ea typeface="Calibri (MS) Bold"/>
                <a:cs typeface="Calibri (MS) Bold"/>
                <a:sym typeface="Calibri (MS) Bold"/>
              </a:rPr>
              <a:t>➜ UI/UX Importance</a:t>
            </a:r>
          </a:p>
        </p:txBody>
      </p:sp>
      <p:sp>
        <p:nvSpPr>
          <p:cNvPr id="15" name="TextBox 15"/>
          <p:cNvSpPr txBox="1"/>
          <p:nvPr/>
        </p:nvSpPr>
        <p:spPr>
          <a:xfrm>
            <a:off x="1447314" y="8997229"/>
            <a:ext cx="9366961" cy="261071"/>
          </a:xfrm>
          <a:prstGeom prst="rect">
            <a:avLst/>
          </a:prstGeom>
        </p:spPr>
        <p:txBody>
          <a:bodyPr lIns="0" tIns="0" rIns="0" bIns="0" rtlCol="0" anchor="t">
            <a:spAutoFit/>
          </a:bodyPr>
          <a:lstStyle/>
          <a:p>
            <a:pPr algn="l">
              <a:lnSpc>
                <a:spcPts val="2095"/>
              </a:lnSpc>
            </a:pPr>
            <a:r>
              <a:rPr lang="en-US" sz="1746">
                <a:solidFill>
                  <a:srgbClr val="000000"/>
                </a:solidFill>
                <a:latin typeface="Segoe UI"/>
                <a:ea typeface="Segoe UI"/>
                <a:cs typeface="Segoe UI"/>
                <a:sym typeface="Segoe UI"/>
              </a:rPr>
              <a:t>Careful design following familiar patterns dramatically improves user experience and usability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1319</Words>
  <Application>Microsoft Office PowerPoint</Application>
  <PresentationFormat>Custom</PresentationFormat>
  <Paragraphs>172</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Segoe UI</vt:lpstr>
      <vt:lpstr>Calibri</vt:lpstr>
      <vt:lpstr>Courier New</vt:lpstr>
      <vt:lpstr>Calibri (MS) Bold</vt:lpstr>
      <vt:lpstr>Arial</vt:lpstr>
      <vt:lpstr>Segoe UI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UDF Project.pptx</dc:title>
  <cp:lastModifiedBy>Dani G German</cp:lastModifiedBy>
  <cp:revision>3</cp:revision>
  <dcterms:created xsi:type="dcterms:W3CDTF">2006-08-16T00:00:00Z</dcterms:created>
  <dcterms:modified xsi:type="dcterms:W3CDTF">2026-10-04T18:34:45Z</dcterms:modified>
  <dc:identifier>DAHXEkMML7Y</dc:identifier>
</cp:coreProperties>
</file>